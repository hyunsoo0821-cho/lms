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2" r:id="rId2"/>
    <p:sldId id="263" r:id="rId3"/>
    <p:sldId id="272" r:id="rId4"/>
    <p:sldId id="264" r:id="rId5"/>
    <p:sldId id="270" r:id="rId6"/>
    <p:sldId id="269" r:id="rId7"/>
    <p:sldId id="266" r:id="rId8"/>
    <p:sldId id="265" r:id="rId9"/>
    <p:sldId id="267" r:id="rId10"/>
    <p:sldId id="256" r:id="rId11"/>
    <p:sldId id="257" r:id="rId12"/>
    <p:sldId id="258" r:id="rId13"/>
    <p:sldId id="259" r:id="rId14"/>
    <p:sldId id="260" r:id="rId15"/>
    <p:sldId id="261" r:id="rId16"/>
    <p:sldId id="268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150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4BA7F-3B26-5006-0E3E-CEC770532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0823D-EA2B-8A24-22BD-6B2CA888D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2B328-C265-1F4C-B39E-CCE196892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ED2B7-14DF-051C-FEC6-3F275A5DA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77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8129-A64D-3D5D-0EA1-888B67C3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9B2A5-E007-5B0E-FD6C-DEB6D6D39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55CBB-7CF8-5A2F-4485-9F0CDAB9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555FE-CCC0-24BE-8441-881FD8C1A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83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6E39-6553-C7C7-F7B0-B6EB20069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7CC12-8944-8279-8AAD-78FEA65C0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0F442-2D41-4777-AFF8-CCC04CA9B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C2075-B27A-880B-D0D4-0E9612F60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41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5F6F-5562-1FB1-007D-A34CD06EA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03FF0-E592-88DF-57FE-A040D98DA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C0EBD-33FB-B883-A976-6FACA77C1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51771-42FB-136E-495C-D82397EC7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52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0E79492D-4DAD-5012-2DCB-6DA554059F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3" t="2189"/>
          <a:stretch>
            <a:fillRect/>
          </a:stretch>
        </p:blipFill>
        <p:spPr>
          <a:xfrm>
            <a:off x="2320172" y="1218895"/>
            <a:ext cx="3232483" cy="500664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r>
              <a:rPr lang="ko-KR" altLang="en-US" sz="2100" b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</a:t>
            </a:r>
            <a:r>
              <a:rPr lang="en-US" sz="2100" b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</a:t>
            </a: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페이지 (사용자)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 진입점 — 로그인 / 회원가입 화면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13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299637" y="1242058"/>
            <a:ext cx="3244128" cy="498348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1250030" y="1218895"/>
            <a:ext cx="372951" cy="34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35074" y="5405939"/>
            <a:ext cx="372951" cy="34247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2535074" y="5394966"/>
            <a:ext cx="372951" cy="34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7498080" y="1564273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13"/>
          <p:cNvSpPr/>
          <p:nvPr/>
        </p:nvSpPr>
        <p:spPr>
          <a:xfrm>
            <a:off x="7498080" y="15533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882128" y="1545985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900416" y="1893457"/>
            <a:ext cx="3575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(사번 · 회사 메일) + 비밀번호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상태 유지 · 비밀번호 찾기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SSO 회사 계정 · 일회용 로그인 코드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인증 (OTP · 생체) </a:t>
            </a:r>
            <a:r>
              <a:rPr lang="en-US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400" dirty="0">
              <a:solidFill>
                <a:srgbClr val="6474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altLang="ko-KR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teams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연동</a:t>
            </a:r>
            <a:endParaRPr lang="en-US" altLang="ko-KR" sz="1400" dirty="0">
              <a:solidFill>
                <a:srgbClr val="6474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1400" dirty="0">
              <a:solidFill>
                <a:srgbClr val="6474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7498080" y="3970782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498080" y="412623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18"/>
          <p:cNvSpPr/>
          <p:nvPr/>
        </p:nvSpPr>
        <p:spPr>
          <a:xfrm>
            <a:off x="7498080" y="41152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882128" y="4107942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900416" y="4455414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이메일 · 회사 · 부서 · 직급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이용약관 · 개인정보 처리방침 동의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후 튜토리얼 · 역량 진단 진입</a:t>
            </a:r>
            <a:endParaRPr lang="en-US" sz="1200" dirty="0"/>
          </a:p>
        </p:txBody>
      </p:sp>
      <p:pic>
        <p:nvPicPr>
          <p:cNvPr id="27" name="Image 0" descr="media/image4.png">
            <a:extLst>
              <a:ext uri="{FF2B5EF4-FFF2-40B4-BE49-F238E27FC236}">
                <a16:creationId xmlns:a16="http://schemas.microsoft.com/office/drawing/2014/main" id="{E7B37FF9-B049-5133-FB35-447B1F2C9B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8115D4A-A0BB-1335-A5DC-849DED2AF963}"/>
              </a:ext>
            </a:extLst>
          </p:cNvPr>
          <p:cNvSpPr/>
          <p:nvPr/>
        </p:nvSpPr>
        <p:spPr>
          <a:xfrm>
            <a:off x="2908026" y="5661615"/>
            <a:ext cx="2018088" cy="160809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FC98C095-28CD-EFA4-F567-4E97940BCFB9}"/>
              </a:ext>
            </a:extLst>
          </p:cNvPr>
          <p:cNvSpPr/>
          <p:nvPr/>
        </p:nvSpPr>
        <p:spPr>
          <a:xfrm>
            <a:off x="2090027" y="1089965"/>
            <a:ext cx="372951" cy="34247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772C8F60-AE34-96F3-90AF-0BD1641927BB}"/>
              </a:ext>
            </a:extLst>
          </p:cNvPr>
          <p:cNvSpPr/>
          <p:nvPr/>
        </p:nvSpPr>
        <p:spPr>
          <a:xfrm>
            <a:off x="2090027" y="1078992"/>
            <a:ext cx="372951" cy="34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5"/>
          <p:cNvSpPr/>
          <p:nvPr/>
        </p:nvSpPr>
        <p:spPr>
          <a:xfrm>
            <a:off x="232703" y="1985353"/>
            <a:ext cx="2675088" cy="3925509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3090671" y="3977640"/>
            <a:ext cx="3767329" cy="2208944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CFE3652-8D5A-C071-5103-B6D8CC7F0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068" y="3962839"/>
            <a:ext cx="4046337" cy="234732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EFA0631-5FD7-2CB8-DABC-639865456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03" y="1974380"/>
            <a:ext cx="2675088" cy="392550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</a:t>
            </a:r>
            <a:r>
              <a:rPr lang="ko-KR" alt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100" b="1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튜토리얼 · 역량 진단 (사용자)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사용자 온보딩 3단계 — 가입 → 튜토리얼 → 역량 진단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13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3076954" y="1691640"/>
            <a:ext cx="4031451" cy="2026609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2578" y="1818553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102578" y="18075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2953512" y="3822192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2953512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7498080" y="1520411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Text 16"/>
          <p:cNvSpPr/>
          <p:nvPr/>
        </p:nvSpPr>
        <p:spPr>
          <a:xfrm>
            <a:off x="7498080" y="15094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7882128" y="1502123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7900416" y="1849595"/>
            <a:ext cx="3575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기본 정보 · 회사 정보 입력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마케팅 수신 동의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498080" y="2812665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7498080" y="295238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7" name="Text 21"/>
          <p:cNvSpPr/>
          <p:nvPr/>
        </p:nvSpPr>
        <p:spPr>
          <a:xfrm>
            <a:off x="7498080" y="29414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7882128" y="293409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튜토리얼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7900416" y="3281570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→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강의탐색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수강신청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재생</a:t>
            </a:r>
            <a:endParaRPr lang="en-US" altLang="ko-KR" sz="1400" dirty="0">
              <a:solidFill>
                <a:srgbClr val="6474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내학습 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역량진단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altLang="ko-KR" sz="1400" dirty="0">
              <a:solidFill>
                <a:srgbClr val="6474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인터랙티브 가이드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건너뛰기 / 다시보기 옵션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498080" y="4398264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7498080" y="455371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32" name="Text 26"/>
          <p:cNvSpPr/>
          <p:nvPr/>
        </p:nvSpPr>
        <p:spPr>
          <a:xfrm>
            <a:off x="7498080" y="45427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7882128" y="4535424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튜토리얼 완료</a:t>
            </a:r>
            <a:endParaRPr lang="en-US" sz="2000" dirty="0"/>
          </a:p>
        </p:txBody>
      </p:sp>
      <p:sp>
        <p:nvSpPr>
          <p:cNvPr id="34" name="Text 28"/>
          <p:cNvSpPr/>
          <p:nvPr/>
        </p:nvSpPr>
        <p:spPr>
          <a:xfrm>
            <a:off x="7900416" y="4882896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회원정보 가입하기 </a:t>
            </a:r>
            <a:endParaRPr lang="en-US" sz="1400" dirty="0">
              <a:solidFill>
                <a:srgbClr val="6474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되돌아가기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AI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역량진단 하러가기</a:t>
            </a:r>
            <a:endParaRPr lang="en-US" sz="1200" dirty="0"/>
          </a:p>
        </p:txBody>
      </p:sp>
      <p:pic>
        <p:nvPicPr>
          <p:cNvPr id="36" name="Image 0" descr="media/image4.png">
            <a:extLst>
              <a:ext uri="{FF2B5EF4-FFF2-40B4-BE49-F238E27FC236}">
                <a16:creationId xmlns:a16="http://schemas.microsoft.com/office/drawing/2014/main" id="{A2FAAFC4-9295-8287-269D-8BAACCEB29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F6BA13D-8037-D58D-22FF-CF1060809EA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166"/>
          <a:stretch>
            <a:fillRect/>
          </a:stretch>
        </p:blipFill>
        <p:spPr>
          <a:xfrm>
            <a:off x="3056440" y="1588694"/>
            <a:ext cx="4112456" cy="21295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68282" y="1549672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2968282" y="15386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BE9DF-0346-283D-6467-0689A7B8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094440-CE89-6C5E-DA29-5F45F68445F3}"/>
              </a:ext>
            </a:extLst>
          </p:cNvPr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36C962-EC43-4F36-FDF5-006EFDA3FD7D}"/>
              </a:ext>
            </a:extLst>
          </p:cNvPr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</a:t>
            </a:r>
            <a:r>
              <a:rPr lang="ko-KR" alt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100" b="1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튜토리얼 · 역량 진단 (사용자)</a:t>
            </a:r>
            <a:endParaRPr lang="en-US" sz="2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747A7C-B8BB-37E5-9C58-412E502B3381}"/>
              </a:ext>
            </a:extLst>
          </p:cNvPr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사용자 온보딩 3단계 — 가입 → 튜토리얼 → 역량 진단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0BE4F6A-237B-0EA0-80C6-CF0341CECCE4}"/>
              </a:ext>
            </a:extLst>
          </p:cNvPr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5F7BC4D-954F-13F6-4F20-0E1848B8DE9E}"/>
              </a:ext>
            </a:extLst>
          </p:cNvPr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13</a:t>
            </a:r>
            <a:endParaRPr lang="en-US" sz="800" dirty="0"/>
          </a:p>
        </p:txBody>
      </p:sp>
      <p:pic>
        <p:nvPicPr>
          <p:cNvPr id="16" name="Image 3" descr="media/image22.png">
            <a:extLst>
              <a:ext uri="{FF2B5EF4-FFF2-40B4-BE49-F238E27FC236}">
                <a16:creationId xmlns:a16="http://schemas.microsoft.com/office/drawing/2014/main" id="{ECD59684-62D4-4693-5D71-80339B65A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6" y="1472417"/>
            <a:ext cx="3276045" cy="4745503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7" name="Shape 11">
            <a:extLst>
              <a:ext uri="{FF2B5EF4-FFF2-40B4-BE49-F238E27FC236}">
                <a16:creationId xmlns:a16="http://schemas.microsoft.com/office/drawing/2014/main" id="{95677751-9538-E0D7-8D98-CFDE9C3E3AF8}"/>
              </a:ext>
            </a:extLst>
          </p:cNvPr>
          <p:cNvSpPr/>
          <p:nvPr/>
        </p:nvSpPr>
        <p:spPr>
          <a:xfrm>
            <a:off x="212656" y="1472418"/>
            <a:ext cx="3276046" cy="4245932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501C6523-4278-388A-A43B-387FA25837F6}"/>
              </a:ext>
            </a:extLst>
          </p:cNvPr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1271FE2C-A61C-EE43-DF9C-D6BD3ED6D78E}"/>
              </a:ext>
            </a:extLst>
          </p:cNvPr>
          <p:cNvSpPr/>
          <p:nvPr/>
        </p:nvSpPr>
        <p:spPr>
          <a:xfrm>
            <a:off x="7544972" y="15481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D7C8EA53-566D-1E37-5D3D-79D67A6C6092}"/>
              </a:ext>
            </a:extLst>
          </p:cNvPr>
          <p:cNvSpPr/>
          <p:nvPr/>
        </p:nvSpPr>
        <p:spPr>
          <a:xfrm>
            <a:off x="7544972" y="15372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2949C4D-8157-DA8E-C5F4-82190BC8B059}"/>
              </a:ext>
            </a:extLst>
          </p:cNvPr>
          <p:cNvSpPr/>
          <p:nvPr/>
        </p:nvSpPr>
        <p:spPr>
          <a:xfrm>
            <a:off x="7929020" y="152990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</a:t>
            </a:r>
            <a:r>
              <a:rPr lang="en-US" altLang="ko-KR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altLang="ko-KR" sz="20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D76809D-64D4-FF58-AF53-F61655808177}"/>
              </a:ext>
            </a:extLst>
          </p:cNvPr>
          <p:cNvSpPr/>
          <p:nvPr/>
        </p:nvSpPr>
        <p:spPr>
          <a:xfrm>
            <a:off x="7947308" y="1877372"/>
            <a:ext cx="3575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altLang="ko-KR" sz="14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15~20문항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altLang="ko-KR" sz="1400" dirty="0"/>
          </a:p>
          <a:p>
            <a:pPr>
              <a:lnSpc>
                <a:spcPct val="112000"/>
              </a:lnSpc>
            </a:pPr>
            <a:r>
              <a:rPr lang="en-US" altLang="ko-KR" sz="14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미리보기</a:t>
            </a:r>
            <a:endParaRPr lang="en-US" altLang="ko-KR" sz="1400" dirty="0"/>
          </a:p>
          <a:p>
            <a:pPr>
              <a:lnSpc>
                <a:spcPct val="112000"/>
              </a:lnSpc>
            </a:pPr>
            <a:r>
              <a:rPr lang="en-US" altLang="ko-KR" sz="14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강좌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9</a:t>
            </a:r>
            <a:r>
              <a:rPr lang="en-US" altLang="ko-KR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11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19783C64-E7A3-7FE4-E7D4-0F0074B43445}"/>
              </a:ext>
            </a:extLst>
          </p:cNvPr>
          <p:cNvSpPr/>
          <p:nvPr/>
        </p:nvSpPr>
        <p:spPr>
          <a:xfrm>
            <a:off x="7544972" y="3727065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E8A4DBEB-8551-FB78-DD30-3A93C3CB91E7}"/>
              </a:ext>
            </a:extLst>
          </p:cNvPr>
          <p:cNvSpPr/>
          <p:nvPr/>
        </p:nvSpPr>
        <p:spPr>
          <a:xfrm>
            <a:off x="7544972" y="386678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7436214-46E2-5448-4260-9281E8972E7F}"/>
              </a:ext>
            </a:extLst>
          </p:cNvPr>
          <p:cNvSpPr/>
          <p:nvPr/>
        </p:nvSpPr>
        <p:spPr>
          <a:xfrm>
            <a:off x="7544972" y="38558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218623EA-093D-2D1A-506E-56048CB1C3D9}"/>
              </a:ext>
            </a:extLst>
          </p:cNvPr>
          <p:cNvSpPr/>
          <p:nvPr/>
        </p:nvSpPr>
        <p:spPr>
          <a:xfrm>
            <a:off x="7929020" y="384849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결과보기</a:t>
            </a:r>
            <a:endParaRPr lang="en-US" sz="20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B220EC4-62AE-A78C-8055-4FBBCDD32BDF}"/>
              </a:ext>
            </a:extLst>
          </p:cNvPr>
          <p:cNvSpPr/>
          <p:nvPr/>
        </p:nvSpPr>
        <p:spPr>
          <a:xfrm>
            <a:off x="7947308" y="4195970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 자기진다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시나리오</a:t>
            </a:r>
            <a:endParaRPr lang="en-US" altLang="ko-KR" sz="1400" dirty="0">
              <a:solidFill>
                <a:srgbClr val="6474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altLang="ko-KR" sz="14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 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E·V·P·O·C·F·R </a:t>
            </a:r>
            <a:r>
              <a:rPr lang="en-US" altLang="ko-KR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 질문 및 결과보기 </a:t>
            </a:r>
            <a:endParaRPr lang="en-US" sz="14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D496FE02-5017-7DB4-0D23-F96342C6854F}"/>
              </a:ext>
            </a:extLst>
          </p:cNvPr>
          <p:cNvSpPr/>
          <p:nvPr/>
        </p:nvSpPr>
        <p:spPr>
          <a:xfrm>
            <a:off x="7900416" y="4882896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</p:txBody>
      </p:sp>
      <p:pic>
        <p:nvPicPr>
          <p:cNvPr id="36" name="Image 0" descr="media/image4.png">
            <a:extLst>
              <a:ext uri="{FF2B5EF4-FFF2-40B4-BE49-F238E27FC236}">
                <a16:creationId xmlns:a16="http://schemas.microsoft.com/office/drawing/2014/main" id="{04AEE12D-91C7-B65F-92AE-4E196930D8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  <p:sp>
        <p:nvSpPr>
          <p:cNvPr id="8" name="Shape 9">
            <a:extLst>
              <a:ext uri="{FF2B5EF4-FFF2-40B4-BE49-F238E27FC236}">
                <a16:creationId xmlns:a16="http://schemas.microsoft.com/office/drawing/2014/main" id="{CF5D9AD5-E666-B806-5E4B-40682DC65B5A}"/>
              </a:ext>
            </a:extLst>
          </p:cNvPr>
          <p:cNvSpPr/>
          <p:nvPr/>
        </p:nvSpPr>
        <p:spPr>
          <a:xfrm>
            <a:off x="57207" y="135764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50EF116C-4115-1C4A-E582-15DEEA4ED2F2}"/>
              </a:ext>
            </a:extLst>
          </p:cNvPr>
          <p:cNvSpPr/>
          <p:nvPr/>
        </p:nvSpPr>
        <p:spPr>
          <a:xfrm>
            <a:off x="57207" y="13466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CDB2F6B-00D5-E8AE-7E60-8735F0371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429" y="1472416"/>
            <a:ext cx="3458863" cy="4745503"/>
          </a:xfrm>
          <a:prstGeom prst="rect">
            <a:avLst/>
          </a:prstGeom>
        </p:spPr>
      </p:pic>
      <p:sp>
        <p:nvSpPr>
          <p:cNvPr id="44" name="Shape 9">
            <a:extLst>
              <a:ext uri="{FF2B5EF4-FFF2-40B4-BE49-F238E27FC236}">
                <a16:creationId xmlns:a16="http://schemas.microsoft.com/office/drawing/2014/main" id="{3763A14F-8D12-C8E3-AFA7-69F86E5616E3}"/>
              </a:ext>
            </a:extLst>
          </p:cNvPr>
          <p:cNvSpPr/>
          <p:nvPr/>
        </p:nvSpPr>
        <p:spPr>
          <a:xfrm>
            <a:off x="3499721" y="1323290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2D864569-BC9B-21A5-BA69-B8D7A66BCB3B}"/>
              </a:ext>
            </a:extLst>
          </p:cNvPr>
          <p:cNvSpPr/>
          <p:nvPr/>
        </p:nvSpPr>
        <p:spPr>
          <a:xfrm>
            <a:off x="3499721" y="13123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00991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</a:t>
            </a:r>
            <a:r>
              <a:rPr lang="en-US" sz="2100" b="1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</a:t>
            </a: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진단 후 추천 강좌 보기 (사용자)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 기반 개인화 추천 강좌 노출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13</a:t>
            </a:r>
            <a:endParaRPr lang="en-US" sz="800" dirty="0"/>
          </a:p>
        </p:txBody>
      </p:sp>
      <p:pic>
        <p:nvPicPr>
          <p:cNvPr id="8" name="Image 1" descr="media/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23160"/>
            <a:ext cx="2551176" cy="2834640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502920" y="2423160"/>
            <a:ext cx="2551176" cy="283464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384048" y="230428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84048" y="22933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2" descr="media/imag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2423160"/>
            <a:ext cx="3599993" cy="2834640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3374136" y="2423160"/>
            <a:ext cx="3599993" cy="283464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3255264" y="230428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3255264" y="22933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7498080" y="1616659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13"/>
          <p:cNvSpPr/>
          <p:nvPr/>
        </p:nvSpPr>
        <p:spPr>
          <a:xfrm>
            <a:off x="7498080" y="16056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882128" y="1598371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진단 결과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900416" y="1945843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E·V·P·O·C·F 점수 시각화 (차트)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· 보완 필요 역량 TOP 2 표시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권장 시간 · 강좌 수 안내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98080" y="3863340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498080" y="40187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18"/>
          <p:cNvSpPr/>
          <p:nvPr/>
        </p:nvSpPr>
        <p:spPr>
          <a:xfrm>
            <a:off x="7498080" y="40078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882128" y="400050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강좌 보기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900416" y="4347972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역량 보완 추천 강좌 6건 노출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클릭 시 강의 상세 진입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전체보기 · 정렬 옵션 제공</a:t>
            </a:r>
            <a:endParaRPr lang="en-US" sz="1200" dirty="0"/>
          </a:p>
        </p:txBody>
      </p:sp>
      <p:pic>
        <p:nvPicPr>
          <p:cNvPr id="27" name="Image 0" descr="media/image4.png">
            <a:extLst>
              <a:ext uri="{FF2B5EF4-FFF2-40B4-BE49-F238E27FC236}">
                <a16:creationId xmlns:a16="http://schemas.microsoft.com/office/drawing/2014/main" id="{2C2006C0-BE0F-A5D3-0D5C-1610F1E7E3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6E151-6C00-1689-2538-7B31D619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E9FC4554-EA69-5058-9261-AB6171514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13" y="1308251"/>
            <a:ext cx="6912484" cy="210195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577EA11-AA38-610D-828D-83E0005F0524}"/>
              </a:ext>
            </a:extLst>
          </p:cNvPr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6B6D51-36F7-DC85-407C-341E13101CBB}"/>
              </a:ext>
            </a:extLst>
          </p:cNvPr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 기반 개인화 추천 강좌 노출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BA063C-2CFF-1324-1E22-5E1149CDD20D}"/>
              </a:ext>
            </a:extLst>
          </p:cNvPr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BECB71E-5F9B-CAA4-2FAC-80BBBAD3C81E}"/>
              </a:ext>
            </a:extLst>
          </p:cNvPr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13</a:t>
            </a:r>
            <a:endParaRPr lang="en-US" sz="8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1021457-1ABD-CC39-A4F3-1DC5EA2A8177}"/>
              </a:ext>
            </a:extLst>
          </p:cNvPr>
          <p:cNvSpPr/>
          <p:nvPr/>
        </p:nvSpPr>
        <p:spPr>
          <a:xfrm>
            <a:off x="157103" y="1310335"/>
            <a:ext cx="7000993" cy="2101958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9CA9783-793D-E993-18CD-549A43B73480}"/>
              </a:ext>
            </a:extLst>
          </p:cNvPr>
          <p:cNvSpPr/>
          <p:nvPr/>
        </p:nvSpPr>
        <p:spPr>
          <a:xfrm>
            <a:off x="91439" y="1171594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CAFE932-F1FC-5D36-AF5C-E67F1D8DA528}"/>
              </a:ext>
            </a:extLst>
          </p:cNvPr>
          <p:cNvSpPr/>
          <p:nvPr/>
        </p:nvSpPr>
        <p:spPr>
          <a:xfrm>
            <a:off x="90164" y="11715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D2E16FA-BC8F-1C3C-114C-C68AE54F1D15}"/>
              </a:ext>
            </a:extLst>
          </p:cNvPr>
          <p:cNvSpPr/>
          <p:nvPr/>
        </p:nvSpPr>
        <p:spPr>
          <a:xfrm>
            <a:off x="2025351" y="3728620"/>
            <a:ext cx="3767330" cy="2553307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FF14A66-CBFF-86D5-C466-488AB5681B27}"/>
              </a:ext>
            </a:extLst>
          </p:cNvPr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AC2B495E-3196-4BC0-03D3-570EE4A3EE1A}"/>
              </a:ext>
            </a:extLst>
          </p:cNvPr>
          <p:cNvSpPr/>
          <p:nvPr/>
        </p:nvSpPr>
        <p:spPr>
          <a:xfrm>
            <a:off x="7498080" y="1616659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87210B5-9CF6-75AB-2243-587CF3053DB7}"/>
              </a:ext>
            </a:extLst>
          </p:cNvPr>
          <p:cNvSpPr/>
          <p:nvPr/>
        </p:nvSpPr>
        <p:spPr>
          <a:xfrm>
            <a:off x="7498080" y="16056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5A3FDB0-2050-D0D7-C231-D69F9B030254}"/>
              </a:ext>
            </a:extLst>
          </p:cNvPr>
          <p:cNvSpPr/>
          <p:nvPr/>
        </p:nvSpPr>
        <p:spPr>
          <a:xfrm>
            <a:off x="7838064" y="4026415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진단 결과</a:t>
            </a:r>
            <a:endParaRPr lang="en-US" sz="20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0A1DA31-BE9B-122F-24F3-94C222209D07}"/>
              </a:ext>
            </a:extLst>
          </p:cNvPr>
          <p:cNvSpPr/>
          <p:nvPr/>
        </p:nvSpPr>
        <p:spPr>
          <a:xfrm>
            <a:off x="7856352" y="4373887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E·V·P·O·C·F 점수 시각화 (차트)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· 보완 필요 역량 TOP 2 표시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권장 시간 · 강좌 수 안내</a:t>
            </a:r>
            <a:endParaRPr lang="en-US" sz="12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A2F736EC-0799-C15A-7F71-9D1D327C1C1F}"/>
              </a:ext>
            </a:extLst>
          </p:cNvPr>
          <p:cNvSpPr/>
          <p:nvPr/>
        </p:nvSpPr>
        <p:spPr>
          <a:xfrm>
            <a:off x="7498080" y="3863340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20F05FF9-1948-D126-82D6-A79A32F5474A}"/>
              </a:ext>
            </a:extLst>
          </p:cNvPr>
          <p:cNvSpPr/>
          <p:nvPr/>
        </p:nvSpPr>
        <p:spPr>
          <a:xfrm>
            <a:off x="7498080" y="40187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BF9DD9D4-E7BF-4E07-4639-A2D4FB85EA77}"/>
              </a:ext>
            </a:extLst>
          </p:cNvPr>
          <p:cNvSpPr/>
          <p:nvPr/>
        </p:nvSpPr>
        <p:spPr>
          <a:xfrm>
            <a:off x="7498080" y="40078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pic>
        <p:nvPicPr>
          <p:cNvPr id="27" name="Image 0" descr="media/image4.png">
            <a:extLst>
              <a:ext uri="{FF2B5EF4-FFF2-40B4-BE49-F238E27FC236}">
                <a16:creationId xmlns:a16="http://schemas.microsoft.com/office/drawing/2014/main" id="{ED89C3BE-2FFC-3D31-29DD-A803A4B31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  <p:pic>
        <p:nvPicPr>
          <p:cNvPr id="29" name="Image 3" descr="media/image22.png">
            <a:extLst>
              <a:ext uri="{FF2B5EF4-FFF2-40B4-BE49-F238E27FC236}">
                <a16:creationId xmlns:a16="http://schemas.microsoft.com/office/drawing/2014/main" id="{F11F00E1-A689-7896-417F-019E2DE5B9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351" y="3741725"/>
            <a:ext cx="3767329" cy="2540203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4" name="Shape 9">
            <a:extLst>
              <a:ext uri="{FF2B5EF4-FFF2-40B4-BE49-F238E27FC236}">
                <a16:creationId xmlns:a16="http://schemas.microsoft.com/office/drawing/2014/main" id="{4A8BD9A4-A506-1989-CFA4-662737EC5E77}"/>
              </a:ext>
            </a:extLst>
          </p:cNvPr>
          <p:cNvSpPr/>
          <p:nvPr/>
        </p:nvSpPr>
        <p:spPr>
          <a:xfrm>
            <a:off x="1869903" y="3586277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E35DED7-E39D-EB73-48F5-96D95E0C8636}"/>
              </a:ext>
            </a:extLst>
          </p:cNvPr>
          <p:cNvSpPr/>
          <p:nvPr/>
        </p:nvSpPr>
        <p:spPr>
          <a:xfrm>
            <a:off x="1869903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69582897-1809-E6A1-BCE8-E38E174E520E}"/>
              </a:ext>
            </a:extLst>
          </p:cNvPr>
          <p:cNvSpPr/>
          <p:nvPr/>
        </p:nvSpPr>
        <p:spPr>
          <a:xfrm>
            <a:off x="7838064" y="1616281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강좌 보기</a:t>
            </a:r>
            <a:endParaRPr lang="en-US" sz="2000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F2E9F4D4-7FF8-6138-6958-316E1314F88B}"/>
              </a:ext>
            </a:extLst>
          </p:cNvPr>
          <p:cNvSpPr/>
          <p:nvPr/>
        </p:nvSpPr>
        <p:spPr>
          <a:xfrm>
            <a:off x="7856352" y="1963753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역량 보완 추천 강좌 6건 노출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클릭 시 강의 상세 진입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전체보기 · 정렬 옵션 제공</a:t>
            </a:r>
            <a:endParaRPr lang="en-US" sz="12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EA260E8-476A-7386-AB3D-19B0ECF31E59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909016" y="1586274"/>
            <a:ext cx="2878646" cy="2155451"/>
          </a:xfrm>
          <a:prstGeom prst="straightConnector1">
            <a:avLst/>
          </a:prstGeom>
          <a:ln w="3175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B8C802E-1692-4CBE-25D6-A9ED9BEF9659}"/>
              </a:ext>
            </a:extLst>
          </p:cNvPr>
          <p:cNvSpPr/>
          <p:nvPr/>
        </p:nvSpPr>
        <p:spPr>
          <a:xfrm>
            <a:off x="6494584" y="1482489"/>
            <a:ext cx="663511" cy="133791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71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4A252-E79C-E9FE-C7EF-45E97FD64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2" descr="media/image24.png">
            <a:extLst>
              <a:ext uri="{FF2B5EF4-FFF2-40B4-BE49-F238E27FC236}">
                <a16:creationId xmlns:a16="http://schemas.microsoft.com/office/drawing/2014/main" id="{9CC5BF77-644C-DF88-F2C6-AE6FB8763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6471210" cy="4807915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6C6BD3B-413B-71C0-287B-0A6A2734752D}"/>
              </a:ext>
            </a:extLst>
          </p:cNvPr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C9DC17-5C71-0B64-C94A-116801152352}"/>
              </a:ext>
            </a:extLst>
          </p:cNvPr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r>
              <a:rPr lang="ko-KR" alt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</a:t>
            </a: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</a:t>
            </a:r>
            <a:r>
              <a:rPr lang="en-US" sz="2100" b="1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</a:t>
            </a: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진단 후 추천 강좌 보기 (사용자)</a:t>
            </a:r>
            <a:endParaRPr lang="en-US" sz="2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E615C8-E3E0-0057-2B5B-011BB3D74CE4}"/>
              </a:ext>
            </a:extLst>
          </p:cNvPr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 기반 개인화 추천 강좌 노출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6798A3-B38E-6123-CFD6-811F9C63346A}"/>
              </a:ext>
            </a:extLst>
          </p:cNvPr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21FE3BD-BC6A-AB1D-649D-6DACA2D9B987}"/>
              </a:ext>
            </a:extLst>
          </p:cNvPr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13</a:t>
            </a:r>
            <a:endParaRPr lang="en-US" sz="8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CBE4B80-046B-4F8D-942B-0BA6969E1379}"/>
              </a:ext>
            </a:extLst>
          </p:cNvPr>
          <p:cNvSpPr/>
          <p:nvPr/>
        </p:nvSpPr>
        <p:spPr>
          <a:xfrm>
            <a:off x="466344" y="1836865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6199E55-A996-2030-7669-E7E0073AFEB0}"/>
              </a:ext>
            </a:extLst>
          </p:cNvPr>
          <p:cNvSpPr/>
          <p:nvPr/>
        </p:nvSpPr>
        <p:spPr>
          <a:xfrm>
            <a:off x="466344" y="18258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72A374E-B8B2-B6E5-251E-DA23A60ADF15}"/>
              </a:ext>
            </a:extLst>
          </p:cNvPr>
          <p:cNvSpPr/>
          <p:nvPr/>
        </p:nvSpPr>
        <p:spPr>
          <a:xfrm>
            <a:off x="3374136" y="2423160"/>
            <a:ext cx="3599993" cy="283464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98158E9F-B637-9C77-DE03-C19666919848}"/>
              </a:ext>
            </a:extLst>
          </p:cNvPr>
          <p:cNvSpPr/>
          <p:nvPr/>
        </p:nvSpPr>
        <p:spPr>
          <a:xfrm>
            <a:off x="716280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D4AAFE46-2878-D256-D358-1BC274A49638}"/>
              </a:ext>
            </a:extLst>
          </p:cNvPr>
          <p:cNvSpPr/>
          <p:nvPr/>
        </p:nvSpPr>
        <p:spPr>
          <a:xfrm>
            <a:off x="7498080" y="1616659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C7ABE96-48CE-3911-C659-05EC5A0789CC}"/>
              </a:ext>
            </a:extLst>
          </p:cNvPr>
          <p:cNvSpPr/>
          <p:nvPr/>
        </p:nvSpPr>
        <p:spPr>
          <a:xfrm>
            <a:off x="7498080" y="16056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58EDFA8B-B786-695D-4E85-7A39858DD23A}"/>
              </a:ext>
            </a:extLst>
          </p:cNvPr>
          <p:cNvSpPr/>
          <p:nvPr/>
        </p:nvSpPr>
        <p:spPr>
          <a:xfrm>
            <a:off x="7882128" y="1598371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맞춤 추천 배너</a:t>
            </a:r>
            <a:endParaRPr lang="en-US" sz="20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7CD1E0B6-AAB7-CA85-18A1-2B3DC77104F2}"/>
              </a:ext>
            </a:extLst>
          </p:cNvPr>
          <p:cNvSpPr/>
          <p:nvPr/>
        </p:nvSpPr>
        <p:spPr>
          <a:xfrm>
            <a:off x="7900416" y="1945843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E·V·P·O·C·F 점수 시각화 (차트)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역량진단 결과 기반 개인화 배너</a:t>
            </a:r>
            <a:endParaRPr lang="en-US" altLang="ko-KR" sz="1400" dirty="0">
              <a:solidFill>
                <a:srgbClr val="6474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레벨 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태그 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다시하기</a:t>
            </a:r>
            <a:endParaRPr lang="en-US" sz="12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85508ED4-889F-17DD-D803-024E144FDFCE}"/>
              </a:ext>
            </a:extLst>
          </p:cNvPr>
          <p:cNvSpPr/>
          <p:nvPr/>
        </p:nvSpPr>
        <p:spPr>
          <a:xfrm>
            <a:off x="7498080" y="3863340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739F37E5-308B-E060-62CD-BFC08F500BFB}"/>
              </a:ext>
            </a:extLst>
          </p:cNvPr>
          <p:cNvSpPr/>
          <p:nvPr/>
        </p:nvSpPr>
        <p:spPr>
          <a:xfrm>
            <a:off x="7498080" y="40187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BC0AEAD8-A2B2-3207-FA82-5A45A8E8B037}"/>
              </a:ext>
            </a:extLst>
          </p:cNvPr>
          <p:cNvSpPr/>
          <p:nvPr/>
        </p:nvSpPr>
        <p:spPr>
          <a:xfrm>
            <a:off x="7498080" y="40078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3342BB50-F1B5-36ED-20DD-085255611142}"/>
              </a:ext>
            </a:extLst>
          </p:cNvPr>
          <p:cNvSpPr/>
          <p:nvPr/>
        </p:nvSpPr>
        <p:spPr>
          <a:xfrm>
            <a:off x="7882128" y="400050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강</a:t>
            </a:r>
            <a:r>
              <a:rPr lang="ko-KR" alt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그리드</a:t>
            </a:r>
            <a:endParaRPr lang="en-US" sz="20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EFBA910F-9BAC-5390-7717-C9B62B9145B3}"/>
              </a:ext>
            </a:extLst>
          </p:cNvPr>
          <p:cNvSpPr/>
          <p:nvPr/>
        </p:nvSpPr>
        <p:spPr>
          <a:xfrm>
            <a:off x="7900416" y="4347972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보완 추천 강의 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 카드 노출</a:t>
            </a:r>
            <a:endParaRPr lang="en-US" altLang="ko-KR" sz="1400" dirty="0">
              <a:solidFill>
                <a:srgbClr val="6474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altLang="ko-KR" sz="14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태그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 </a:t>
            </a:r>
            <a:r>
              <a:rPr lang="en-US" altLang="ko-KR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수 표시</a:t>
            </a:r>
            <a:endParaRPr lang="en-US" altLang="ko-KR" sz="1400" dirty="0">
              <a:solidFill>
                <a:srgbClr val="6474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altLang="ko-KR" sz="14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ko-KR" alt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수강신청 버튼으로 바로 진입 </a:t>
            </a:r>
            <a:endParaRPr lang="en-US" altLang="ko-KR" sz="1400" dirty="0"/>
          </a:p>
          <a:p>
            <a:pPr>
              <a:lnSpc>
                <a:spcPct val="112000"/>
              </a:lnSpc>
            </a:pPr>
            <a:endParaRPr lang="en-US" altLang="ko-KR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</p:txBody>
      </p:sp>
      <p:pic>
        <p:nvPicPr>
          <p:cNvPr id="27" name="Image 0" descr="media/image4.png">
            <a:extLst>
              <a:ext uri="{FF2B5EF4-FFF2-40B4-BE49-F238E27FC236}">
                <a16:creationId xmlns:a16="http://schemas.microsoft.com/office/drawing/2014/main" id="{493966E3-7EA7-299B-837C-B812720E26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  <p:sp>
        <p:nvSpPr>
          <p:cNvPr id="26" name="Shape 17">
            <a:extLst>
              <a:ext uri="{FF2B5EF4-FFF2-40B4-BE49-F238E27FC236}">
                <a16:creationId xmlns:a16="http://schemas.microsoft.com/office/drawing/2014/main" id="{45A4DBB9-EE3A-7EAB-2465-1D7885981374}"/>
              </a:ext>
            </a:extLst>
          </p:cNvPr>
          <p:cNvSpPr/>
          <p:nvPr/>
        </p:nvSpPr>
        <p:spPr>
          <a:xfrm>
            <a:off x="466344" y="300068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8E4D3425-5306-465C-918D-1A1493DC50E1}"/>
              </a:ext>
            </a:extLst>
          </p:cNvPr>
          <p:cNvSpPr/>
          <p:nvPr/>
        </p:nvSpPr>
        <p:spPr>
          <a:xfrm>
            <a:off x="466344" y="29897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93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수강신청 관리 시스템 (관리자)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수강신청 승인과 개별학습 이력 · 수료 관리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13</a:t>
            </a:r>
            <a:endParaRPr lang="en-US" sz="800" dirty="0"/>
          </a:p>
        </p:txBody>
      </p:sp>
      <p:pic>
        <p:nvPicPr>
          <p:cNvPr id="8" name="Image 1" descr="media/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5943600" cy="1737895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594360" y="1828800"/>
            <a:ext cx="5943600" cy="1737895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475488" y="170992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475488" y="16989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2" descr="media/image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78175"/>
            <a:ext cx="5943600" cy="2312685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594360" y="3978175"/>
            <a:ext cx="5943600" cy="2312685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475488" y="3859303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475488" y="38483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7498080" y="155333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13"/>
          <p:cNvSpPr/>
          <p:nvPr/>
        </p:nvSpPr>
        <p:spPr>
          <a:xfrm>
            <a:off x="7498080" y="15423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882128" y="153504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수강신청 관리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900416" y="1882520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· 완료 · 불가 현황 칩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이메일 · 강의명 검색 &amp; 필터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건별 승인 / 불가 즉시 처리 → 자동 반영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98080" y="3755898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498080" y="391134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18"/>
          <p:cNvSpPr/>
          <p:nvPr/>
        </p:nvSpPr>
        <p:spPr>
          <a:xfrm>
            <a:off x="7498080" y="39003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882128" y="389305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개별학습 이력관리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900416" y="4240530"/>
            <a:ext cx="3575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사외교육 · 자격증 · 학위 대상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· 구분 · 상태별 필터 &amp; 검색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승인 → 이수 승인 2단계 처리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이수 승인 시 인정시간 자동 반영</a:t>
            </a:r>
            <a:endParaRPr lang="en-US" sz="1200" dirty="0"/>
          </a:p>
        </p:txBody>
      </p:sp>
      <p:pic>
        <p:nvPicPr>
          <p:cNvPr id="27" name="Image 0" descr="media/image4.png">
            <a:extLst>
              <a:ext uri="{FF2B5EF4-FFF2-40B4-BE49-F238E27FC236}">
                <a16:creationId xmlns:a16="http://schemas.microsoft.com/office/drawing/2014/main" id="{3272CB3E-C0F5-00D1-DD5B-78ABE3A06D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추천 강좌 관리 (관리자)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알고리즘 운영 — 강좌 역량 · 유형 · 가중치 설정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13</a:t>
            </a:r>
            <a:endParaRPr lang="en-US" sz="800" dirty="0"/>
          </a:p>
        </p:txBody>
      </p:sp>
      <p:pic>
        <p:nvPicPr>
          <p:cNvPr id="8" name="Image 1" descr="media/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81328"/>
            <a:ext cx="4480560" cy="2251538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1508760" y="1481328"/>
            <a:ext cx="4480560" cy="2251538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389888" y="1362456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1389888" y="13514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2" descr="media/image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4025474"/>
            <a:ext cx="4480560" cy="2229134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1508760" y="4025474"/>
            <a:ext cx="4480560" cy="2229134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389888" y="3906602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1389888" y="38956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7498080" y="159451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13"/>
          <p:cNvSpPr/>
          <p:nvPr/>
        </p:nvSpPr>
        <p:spPr>
          <a:xfrm>
            <a:off x="7498080" y="15835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882128" y="1576226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강좌 메타 설정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900416" y="1923698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강좌별 역량 매핑 · 가중치(%) 부여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분류 (이론 · 실습 · 워크숍)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대상 그룹 지정 (부서 · 직급)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98080" y="3755898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498080" y="391134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18"/>
          <p:cNvSpPr/>
          <p:nvPr/>
        </p:nvSpPr>
        <p:spPr>
          <a:xfrm>
            <a:off x="7498080" y="39003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882128" y="389305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알고리즘 설정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900416" y="4240530"/>
            <a:ext cx="3575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· 이력 · 최신성 가중치 슬라이더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합계 100% 자동 검증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역량 우선 · 신규 강의 강조 룰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시뮬레이션 미리보기</a:t>
            </a:r>
            <a:endParaRPr lang="en-US" sz="1200" dirty="0"/>
          </a:p>
        </p:txBody>
      </p:sp>
      <p:pic>
        <p:nvPicPr>
          <p:cNvPr id="27" name="Image 0" descr="media/image4.png">
            <a:extLst>
              <a:ext uri="{FF2B5EF4-FFF2-40B4-BE49-F238E27FC236}">
                <a16:creationId xmlns:a16="http://schemas.microsoft.com/office/drawing/2014/main" id="{FA96B080-FB26-A357-8381-0BB73FC233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946B14AB-4824-05FD-A0DD-F2449B03C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385526"/>
            <a:ext cx="5120640" cy="183239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조직도 · 멤버 관리 (관리자)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단위 학습 현황과 멤버 등록 · 알림 · 내보내기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13</a:t>
            </a:r>
            <a:endParaRPr lang="en-US" sz="800" dirty="0"/>
          </a:p>
        </p:txBody>
      </p:sp>
      <p:pic>
        <p:nvPicPr>
          <p:cNvPr id="8" name="Image 1" descr="media/image29.png"/>
          <p:cNvPicPr>
            <a:picLocks noChangeAspect="1"/>
          </p:cNvPicPr>
          <p:nvPr/>
        </p:nvPicPr>
        <p:blipFill>
          <a:blip r:embed="rId4"/>
          <a:srcRect b="15865"/>
          <a:stretch>
            <a:fillRect/>
          </a:stretch>
        </p:blipFill>
        <p:spPr>
          <a:xfrm>
            <a:off x="1188720" y="1481328"/>
            <a:ext cx="5120640" cy="2556726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1188720" y="1481328"/>
            <a:ext cx="5120640" cy="2547582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069848" y="1362456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1069848" y="13514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1188720" y="4348950"/>
            <a:ext cx="5120640" cy="1841957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69848" y="423007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1069848" y="42191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7498080" y="1577829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13"/>
          <p:cNvSpPr/>
          <p:nvPr/>
        </p:nvSpPr>
        <p:spPr>
          <a:xfrm>
            <a:off x="7498080" y="156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882128" y="1559541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조직도 관리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900416" y="1907013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&gt; 부서 &gt; 팀 트리 · 현황 집계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단위 공지 · 미이수자 알림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· CSV · 학습 리포트 내보내기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98080" y="3755898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Shape 17"/>
          <p:cNvSpPr/>
          <p:nvPr/>
        </p:nvSpPr>
        <p:spPr>
          <a:xfrm>
            <a:off x="7498080" y="391134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18"/>
          <p:cNvSpPr/>
          <p:nvPr/>
        </p:nvSpPr>
        <p:spPr>
          <a:xfrm>
            <a:off x="7498080" y="39003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882128" y="389305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 등록 / 관리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900416" y="4240530"/>
            <a:ext cx="3575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업로드 (CSV · Excel) · 초대 메일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· 직급 · 학습 상태 필터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진도 · 진단 결과 · 수강 이력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변경 (학습자 · 강사 · 관리자)</a:t>
            </a:r>
            <a:endParaRPr lang="en-US" sz="1200" dirty="0"/>
          </a:p>
        </p:txBody>
      </p:sp>
      <p:pic>
        <p:nvPicPr>
          <p:cNvPr id="27" name="Image 0" descr="media/image4.png">
            <a:extLst>
              <a:ext uri="{FF2B5EF4-FFF2-40B4-BE49-F238E27FC236}">
                <a16:creationId xmlns:a16="http://schemas.microsoft.com/office/drawing/2014/main" id="{7D7A621C-8C9E-2CF5-C218-91B7854BD3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홈 화면 (</a:t>
            </a:r>
            <a:r>
              <a:rPr lang="en-US" sz="2100" b="1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 진입 시점의 메인 화면 — 추천 강의 · 진행 중 강의 · 새 강의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13</a:t>
            </a:r>
            <a:endParaRPr lang="en-US" sz="800" dirty="0"/>
          </a:p>
        </p:txBody>
      </p:sp>
      <p:pic>
        <p:nvPicPr>
          <p:cNvPr id="8" name="Image 1" descr="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87168"/>
            <a:ext cx="3794760" cy="2730043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502920" y="2487168"/>
            <a:ext cx="3794760" cy="2730043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384048" y="2368296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84048" y="23573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2" descr="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1920240"/>
            <a:ext cx="2395728" cy="2120113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4553712" y="1920240"/>
            <a:ext cx="2395728" cy="2120113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4434840" y="180136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4434840" y="17903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3" descr="media/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297680"/>
            <a:ext cx="2395728" cy="1516284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7" name="Shape 11"/>
          <p:cNvSpPr/>
          <p:nvPr/>
        </p:nvSpPr>
        <p:spPr>
          <a:xfrm>
            <a:off x="4553712" y="4297680"/>
            <a:ext cx="2395728" cy="1516284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4434840" y="417880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4434840" y="41678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7488936" y="154076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Text 16"/>
          <p:cNvSpPr/>
          <p:nvPr/>
        </p:nvSpPr>
        <p:spPr>
          <a:xfrm>
            <a:off x="7488936" y="15297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7872984" y="1522476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진입 카드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7891272" y="1869948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추천 강의 카루셀 (역량 기반)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학습하기 · 오늘의 학습 목표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강의 · 신규 콘텐츠 알림 배너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498080" y="2898589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Shape 20"/>
          <p:cNvSpPr/>
          <p:nvPr/>
        </p:nvSpPr>
        <p:spPr>
          <a:xfrm>
            <a:off x="7488936" y="3008259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7" name="Text 21"/>
          <p:cNvSpPr/>
          <p:nvPr/>
        </p:nvSpPr>
        <p:spPr>
          <a:xfrm>
            <a:off x="7488936" y="29972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7872984" y="2989971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강의 영역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7891272" y="3337443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칩 : 전체 · 리더십 · 직무 · 기술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썸네일 + 강의명 + 강사명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hover 시 미리보기 &amp; 바로 수강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498080" y="4505706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7498080" y="466115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32" name="Text 26"/>
          <p:cNvSpPr/>
          <p:nvPr/>
        </p:nvSpPr>
        <p:spPr>
          <a:xfrm>
            <a:off x="7498080" y="465018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7882128" y="4642866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학습 / 활동</a:t>
            </a:r>
            <a:endParaRPr lang="en-US" sz="2400" dirty="0"/>
          </a:p>
        </p:txBody>
      </p:sp>
      <p:sp>
        <p:nvSpPr>
          <p:cNvPr id="34" name="Text 28"/>
          <p:cNvSpPr/>
          <p:nvPr/>
        </p:nvSpPr>
        <p:spPr>
          <a:xfrm>
            <a:off x="7900416" y="4990338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강의 진행률 바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학습 노트 · 북마크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튜터 챗봇 빠른 진입</a:t>
            </a:r>
            <a:endParaRPr lang="en-US" sz="1200" dirty="0"/>
          </a:p>
        </p:txBody>
      </p:sp>
      <p:pic>
        <p:nvPicPr>
          <p:cNvPr id="36" name="Image 0" descr="media/image4.png">
            <a:extLst>
              <a:ext uri="{FF2B5EF4-FFF2-40B4-BE49-F238E27FC236}">
                <a16:creationId xmlns:a16="http://schemas.microsoft.com/office/drawing/2014/main" id="{EA27890E-AF4B-199F-B73A-DBC131AC43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1" r="53762" b="6279"/>
          <a:stretch>
            <a:fillRect/>
          </a:stretch>
        </p:blipFill>
        <p:spPr>
          <a:xfrm>
            <a:off x="10227143" y="-84640"/>
            <a:ext cx="203995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강의 정보 · 내 학습 (공통)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학습 현황과 분야별 강의 탐색을 한 화면에서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13</a:t>
            </a:r>
            <a:endParaRPr lang="en-US" sz="800" dirty="0"/>
          </a:p>
        </p:txBody>
      </p:sp>
      <p:pic>
        <p:nvPicPr>
          <p:cNvPr id="8" name="Image 1" descr="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417320"/>
            <a:ext cx="5029200" cy="3183038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1234440" y="1417320"/>
            <a:ext cx="5029200" cy="3183038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115568" y="129844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1115568" y="12874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2" descr="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800600"/>
            <a:ext cx="5029200" cy="410212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1234440" y="4800600"/>
            <a:ext cx="5029200" cy="410212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115568" y="468172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1115568" y="46707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3" descr="media/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5430268"/>
            <a:ext cx="5029200" cy="315706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7" name="Shape 11"/>
          <p:cNvSpPr/>
          <p:nvPr/>
        </p:nvSpPr>
        <p:spPr>
          <a:xfrm>
            <a:off x="1234440" y="5430268"/>
            <a:ext cx="5029200" cy="315706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1115568" y="5311396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1115568" y="53004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20" name="Image 4" descr="media/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5965430"/>
            <a:ext cx="5029200" cy="365760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21" name="Shape 14"/>
          <p:cNvSpPr/>
          <p:nvPr/>
        </p:nvSpPr>
        <p:spPr>
          <a:xfrm>
            <a:off x="1234440" y="5965430"/>
            <a:ext cx="5029200" cy="36576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1115568" y="584655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/>
          <p:nvPr/>
        </p:nvSpPr>
        <p:spPr>
          <a:xfrm>
            <a:off x="1115568" y="58355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8"/>
          <p:cNvSpPr/>
          <p:nvPr/>
        </p:nvSpPr>
        <p:spPr>
          <a:xfrm>
            <a:off x="7498080" y="187909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6" name="Text 19"/>
          <p:cNvSpPr/>
          <p:nvPr/>
        </p:nvSpPr>
        <p:spPr>
          <a:xfrm>
            <a:off x="7498080" y="18681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7882128" y="1860804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학습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7900416" y="2208276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중 강좌 · 진도율 게이지 (%)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단원별 학습 노트 · 코드 스니펫 첨부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 · 좋아요 강의 모아 보기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498080" y="3008376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0" name="Shape 23"/>
          <p:cNvSpPr/>
          <p:nvPr/>
        </p:nvSpPr>
        <p:spPr>
          <a:xfrm>
            <a:off x="7498080" y="316382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31" name="Text 24"/>
          <p:cNvSpPr/>
          <p:nvPr/>
        </p:nvSpPr>
        <p:spPr>
          <a:xfrm>
            <a:off x="7498080" y="31528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7882128" y="3145536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분야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7900416" y="3493008"/>
            <a:ext cx="3575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리더십 · 직무역량 · 기술 · 공통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시 해당 분야 강의 목록 진입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7498080" y="4078224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7498080" y="423367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36" name="Text 29"/>
          <p:cNvSpPr/>
          <p:nvPr/>
        </p:nvSpPr>
        <p:spPr>
          <a:xfrm>
            <a:off x="7498080" y="42226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7882128" y="4215384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역량별 추천 태그</a:t>
            </a:r>
            <a:endParaRPr lang="en-US" sz="2000" dirty="0"/>
          </a:p>
        </p:txBody>
      </p:sp>
      <p:sp>
        <p:nvSpPr>
          <p:cNvPr id="38" name="Text 31"/>
          <p:cNvSpPr/>
          <p:nvPr/>
        </p:nvSpPr>
        <p:spPr>
          <a:xfrm>
            <a:off x="7900416" y="4562856"/>
            <a:ext cx="3575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· V · P · O · C · F 역량 매칭 노출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클릭 시 동일 역량 강의 보기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7498080" y="5148072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40" name="Shape 33"/>
          <p:cNvSpPr/>
          <p:nvPr/>
        </p:nvSpPr>
        <p:spPr>
          <a:xfrm>
            <a:off x="7498080" y="530352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41" name="Text 34"/>
          <p:cNvSpPr/>
          <p:nvPr/>
        </p:nvSpPr>
        <p:spPr>
          <a:xfrm>
            <a:off x="7498080" y="52925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7882128" y="5285232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필터</a:t>
            </a:r>
            <a:endParaRPr lang="en-US" sz="2000" dirty="0"/>
          </a:p>
        </p:txBody>
      </p:sp>
      <p:sp>
        <p:nvSpPr>
          <p:cNvPr id="43" name="Text 36"/>
          <p:cNvSpPr/>
          <p:nvPr/>
        </p:nvSpPr>
        <p:spPr>
          <a:xfrm>
            <a:off x="7900416" y="5632704"/>
            <a:ext cx="35753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· 강의 시간 · 정렬 조건 제공</a:t>
            </a:r>
            <a:endParaRPr lang="en-US" sz="1200" dirty="0"/>
          </a:p>
        </p:txBody>
      </p:sp>
      <p:pic>
        <p:nvPicPr>
          <p:cNvPr id="45" name="Image 0" descr="media/image4.png">
            <a:extLst>
              <a:ext uri="{FF2B5EF4-FFF2-40B4-BE49-F238E27FC236}">
                <a16:creationId xmlns:a16="http://schemas.microsoft.com/office/drawing/2014/main" id="{F097CB60-522B-79CF-714B-7D59AD1499F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수강신청 화면 (공통)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상세 확인 → 수강 신청, 한 화면 완료 흐름</a:t>
            </a:r>
            <a:endParaRPr lang="en-US" sz="1100" dirty="0"/>
          </a:p>
        </p:txBody>
      </p:sp>
      <p:pic>
        <p:nvPicPr>
          <p:cNvPr id="5" name="Image 0" descr="media/image4.png"/>
          <p:cNvPicPr>
            <a:picLocks noChangeAspect="1"/>
          </p:cNvPicPr>
          <p:nvPr/>
        </p:nvPicPr>
        <p:blipFill>
          <a:blip r:embed="rId3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13</a:t>
            </a:r>
            <a:endParaRPr lang="en-US" sz="800" dirty="0"/>
          </a:p>
        </p:txBody>
      </p:sp>
      <p:pic>
        <p:nvPicPr>
          <p:cNvPr id="8" name="Image 1" descr="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43200"/>
            <a:ext cx="3335731" cy="2194560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502920" y="2743200"/>
            <a:ext cx="3335731" cy="219456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384048" y="262432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84048" y="26133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2" descr="media/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2971" y="2743200"/>
            <a:ext cx="2721254" cy="2194560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4112971" y="2743200"/>
            <a:ext cx="2721254" cy="219456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3994099" y="262432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3994099" y="26133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7498080" y="155448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13"/>
          <p:cNvSpPr/>
          <p:nvPr/>
        </p:nvSpPr>
        <p:spPr>
          <a:xfrm>
            <a:off x="7498080" y="154350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882128" y="1536192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미리보기 · 수강 신청 폼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900416" y="1883664"/>
            <a:ext cx="3575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썸네일 &amp; 트레일러 영상 재생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강사명 · 강의 총 길이 · 강의 수 표시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펼침 / 접기 · 선수 지식 안내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수강 화면 샘플 → 수강 신청하기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98080" y="3970782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498080" y="412623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18"/>
          <p:cNvSpPr/>
          <p:nvPr/>
        </p:nvSpPr>
        <p:spPr>
          <a:xfrm>
            <a:off x="7498080" y="41152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882128" y="4107942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수강신청 확인 및 관리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900416" y="4455414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직접 입력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희망 완료일 선택 (달력)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시간대 알림 설정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강의정보 (공통) — 강의 소개 · 커리큘럼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상세 소개와 단원별 학습 흐름을 시각적으로 제공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13</a:t>
            </a:r>
            <a:endParaRPr lang="en-US" sz="800" dirty="0"/>
          </a:p>
        </p:txBody>
      </p:sp>
      <p:pic>
        <p:nvPicPr>
          <p:cNvPr id="8" name="Image 1" descr="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68880"/>
            <a:ext cx="3037637" cy="2761488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502920" y="2468880"/>
            <a:ext cx="3037637" cy="2761488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384048" y="235000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84048" y="23390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2" descr="media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877" y="2468880"/>
            <a:ext cx="3175711" cy="2761488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3814877" y="2468880"/>
            <a:ext cx="3175711" cy="2761488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3696005" y="235000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3696005" y="23390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7498080" y="159105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13"/>
          <p:cNvSpPr/>
          <p:nvPr/>
        </p:nvSpPr>
        <p:spPr>
          <a:xfrm>
            <a:off x="7498080" y="15800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882128" y="157276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소개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900416" y="1920240"/>
            <a:ext cx="3575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핵심 요약 (3~4줄)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후 얻는 역량 (E·V·P·O·C·F)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프로필 · 경력 · 기타 강의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· 자주 묻는 질문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98080" y="3970782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498080" y="412623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18"/>
          <p:cNvSpPr/>
          <p:nvPr/>
        </p:nvSpPr>
        <p:spPr>
          <a:xfrm>
            <a:off x="7498080" y="41152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882128" y="4107942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900416" y="4455414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챕터별 강의 목록 &amp; 소요 시간 표시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클릭 시 미리보기 &amp; 강의 진입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진도 자동 기록</a:t>
            </a:r>
            <a:endParaRPr lang="en-US" sz="1200" dirty="0"/>
          </a:p>
        </p:txBody>
      </p:sp>
      <p:pic>
        <p:nvPicPr>
          <p:cNvPr id="27" name="Image 0" descr="media/image4.png">
            <a:extLst>
              <a:ext uri="{FF2B5EF4-FFF2-40B4-BE49-F238E27FC236}">
                <a16:creationId xmlns:a16="http://schemas.microsoft.com/office/drawing/2014/main" id="{EC8B8678-F44F-A122-FE40-1943348F89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강의정보 (공통) — 수강평 · 새소식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수강자 평가와 강의 업데이트를 한 화면에서 확인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13</a:t>
            </a:r>
            <a:endParaRPr lang="en-US" sz="800" dirty="0"/>
          </a:p>
        </p:txBody>
      </p:sp>
      <p:pic>
        <p:nvPicPr>
          <p:cNvPr id="8" name="Image 1" descr="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444752"/>
            <a:ext cx="4846320" cy="2707441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1325880" y="1444752"/>
            <a:ext cx="4846320" cy="2707441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207008" y="1325880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1207008" y="13149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2" descr="media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426513"/>
            <a:ext cx="4846320" cy="1915542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1325880" y="4426513"/>
            <a:ext cx="4846320" cy="1915542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207008" y="4307641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1207008" y="42966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7498080" y="160934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13"/>
          <p:cNvSpPr/>
          <p:nvPr/>
        </p:nvSpPr>
        <p:spPr>
          <a:xfrm>
            <a:off x="7498080" y="15983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882128" y="1591056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수강평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900416" y="1938528"/>
            <a:ext cx="3575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별점 4.7 / 5.0 (리뷰 1,234건)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카드 리스트 · 강사 답변 노출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태그 · 최신순 / 별점순 정렬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수강평 작성하기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98080" y="3863340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Shape 17"/>
          <p:cNvSpPr/>
          <p:nvPr/>
        </p:nvSpPr>
        <p:spPr>
          <a:xfrm>
            <a:off x="7498080" y="40187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18"/>
          <p:cNvSpPr/>
          <p:nvPr/>
        </p:nvSpPr>
        <p:spPr>
          <a:xfrm>
            <a:off x="7498080" y="40078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882128" y="400050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새소식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900416" y="4347972"/>
            <a:ext cx="3575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강의 영상 · 자료 업데이트 알림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이벤트 (라이브 Q&amp;A 일정)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소식 클릭 시 해당 단원 즉시 이동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받기 ON / OFF 토글</a:t>
            </a:r>
            <a:endParaRPr lang="en-US" sz="1200" dirty="0"/>
          </a:p>
        </p:txBody>
      </p:sp>
      <p:pic>
        <p:nvPicPr>
          <p:cNvPr id="27" name="Image 0" descr="media/image4.png">
            <a:extLst>
              <a:ext uri="{FF2B5EF4-FFF2-40B4-BE49-F238E27FC236}">
                <a16:creationId xmlns:a16="http://schemas.microsoft.com/office/drawing/2014/main" id="{D90AF340-169E-B337-9BFD-A3A5B29F89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강의 재생 (공통)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재생 + 연관 콘텐츠 + 노트 + 코드 에디터를 한 화면에서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13</a:t>
            </a:r>
            <a:endParaRPr lang="en-US" sz="800" dirty="0"/>
          </a:p>
        </p:txBody>
      </p:sp>
      <p:pic>
        <p:nvPicPr>
          <p:cNvPr id="8" name="Image 1" descr="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81328"/>
            <a:ext cx="5669280" cy="2820537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777240" y="1481328"/>
            <a:ext cx="5669280" cy="2820537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58368" y="1362456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658368" y="13514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2" name="Image 2" descr="media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26280"/>
            <a:ext cx="1691640" cy="1780674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777240" y="4526280"/>
            <a:ext cx="1691640" cy="1780674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658368" y="440740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658368" y="43964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3" descr="media/imag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488" y="4526280"/>
            <a:ext cx="1691640" cy="1780674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17" name="Shape 11"/>
          <p:cNvSpPr/>
          <p:nvPr/>
        </p:nvSpPr>
        <p:spPr>
          <a:xfrm>
            <a:off x="2761488" y="4526280"/>
            <a:ext cx="1691640" cy="1780674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2642616" y="440740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2642616" y="43964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20" name="Image 4" descr="media/image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4526280"/>
            <a:ext cx="1691640" cy="1780674"/>
          </a:xfrm>
          <a:prstGeom prst="rect">
            <a:avLst/>
          </a:prstGeom>
          <a:effectLst>
            <a:outerShdw blurRad="127000" dist="25400" dir="5400000" algn="bl" rotWithShape="0">
              <a:srgbClr val="94A3B8">
                <a:alpha val="35000"/>
              </a:srgbClr>
            </a:outerShdw>
          </a:effectLst>
        </p:spPr>
      </p:pic>
      <p:sp>
        <p:nvSpPr>
          <p:cNvPr id="21" name="Shape 14"/>
          <p:cNvSpPr/>
          <p:nvPr/>
        </p:nvSpPr>
        <p:spPr>
          <a:xfrm>
            <a:off x="4745736" y="4526280"/>
            <a:ext cx="1691640" cy="1780674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4626864" y="440740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/>
          <p:nvPr/>
        </p:nvSpPr>
        <p:spPr>
          <a:xfrm>
            <a:off x="4626864" y="43964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223760" y="1371600"/>
            <a:ext cx="4526280" cy="4983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8"/>
          <p:cNvSpPr/>
          <p:nvPr/>
        </p:nvSpPr>
        <p:spPr>
          <a:xfrm>
            <a:off x="7498080" y="177165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26" name="Text 19"/>
          <p:cNvSpPr/>
          <p:nvPr/>
        </p:nvSpPr>
        <p:spPr>
          <a:xfrm>
            <a:off x="7498080" y="17606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7882128" y="1753362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재생 화면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7900416" y="2100834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16:9 플레이어 · 속도 조절 · 자막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진도 자동 기록 (10%) · 북마크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튜터 챗봇 (플로팅) 질의응답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498080" y="2900934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7498080" y="305638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31" name="Text 24"/>
          <p:cNvSpPr/>
          <p:nvPr/>
        </p:nvSpPr>
        <p:spPr>
          <a:xfrm>
            <a:off x="7498080" y="304540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7882128" y="3038094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 콘텐츠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7900416" y="3385566"/>
            <a:ext cx="3575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카테고리 강의 · 심화 자료 PDF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강의 추천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7498080" y="3970782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7498080" y="412623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36" name="Text 29"/>
          <p:cNvSpPr/>
          <p:nvPr/>
        </p:nvSpPr>
        <p:spPr>
          <a:xfrm>
            <a:off x="7498080" y="41152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7882128" y="4107942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노트</a:t>
            </a:r>
            <a:endParaRPr lang="en-US" sz="2000" dirty="0"/>
          </a:p>
        </p:txBody>
      </p:sp>
      <p:sp>
        <p:nvSpPr>
          <p:cNvPr id="38" name="Text 31"/>
          <p:cNvSpPr/>
          <p:nvPr/>
        </p:nvSpPr>
        <p:spPr>
          <a:xfrm>
            <a:off x="7900416" y="4455414"/>
            <a:ext cx="3575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기준 자동 저장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+ 코드 첨부 · export (.md/.pdf)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7498080" y="5040630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7498080" y="519607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3200"/>
          </a:p>
        </p:txBody>
      </p:sp>
      <p:sp>
        <p:nvSpPr>
          <p:cNvPr id="41" name="Text 34"/>
          <p:cNvSpPr/>
          <p:nvPr/>
        </p:nvSpPr>
        <p:spPr>
          <a:xfrm>
            <a:off x="7498080" y="51851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7882128" y="517779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에디터</a:t>
            </a:r>
            <a:endParaRPr lang="en-US" sz="2000" dirty="0"/>
          </a:p>
        </p:txBody>
      </p:sp>
      <p:sp>
        <p:nvSpPr>
          <p:cNvPr id="43" name="Text 36"/>
          <p:cNvSpPr/>
          <p:nvPr/>
        </p:nvSpPr>
        <p:spPr>
          <a:xfrm>
            <a:off x="7900416" y="5525262"/>
            <a:ext cx="3575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선택 (Python · JS · SQL)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샌드박스 실행 · 콘솔 출력</a:t>
            </a:r>
            <a:endParaRPr lang="en-US" sz="1200" dirty="0"/>
          </a:p>
        </p:txBody>
      </p:sp>
      <p:pic>
        <p:nvPicPr>
          <p:cNvPr id="45" name="Image 0" descr="media/image4.png">
            <a:extLst>
              <a:ext uri="{FF2B5EF4-FFF2-40B4-BE49-F238E27FC236}">
                <a16:creationId xmlns:a16="http://schemas.microsoft.com/office/drawing/2014/main" id="{7239A530-E5CF-6155-3524-8BF6B22E87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강좌 개설 흐름 (관리자 · 강사)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등록을 3단계로 안내 — 기본 정보 입력 → 미디어 업로드 → 등록 및 관리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6568" y="17373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834744" y="1508760"/>
            <a:ext cx="566928" cy="566928"/>
          </a:xfrm>
          <a:prstGeom prst="ellipse">
            <a:avLst/>
          </a:prstGeom>
          <a:solidFill>
            <a:srgbClr val="2563EB"/>
          </a:solidFill>
          <a:ln w="3175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834744" y="14950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26568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9448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기본 정보 입력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38048" y="3063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강의명 · 카테고리 · 강사 정보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썸네일 · 강의 소개 · 상태 설정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78428" y="2788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404208" y="17373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812384" y="1508760"/>
            <a:ext cx="566928" cy="566928"/>
          </a:xfrm>
          <a:prstGeom prst="ellipse">
            <a:avLst/>
          </a:prstGeom>
          <a:solidFill>
            <a:srgbClr val="2563EB"/>
          </a:solidFill>
          <a:ln w="3175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812384" y="14950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404208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87088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 업로드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4815688" y="3063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파일 or URL 등 다양한 타입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간편 업로드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856068" y="2788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8381848" y="17373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9790024" y="1508760"/>
            <a:ext cx="566928" cy="566928"/>
          </a:xfrm>
          <a:prstGeom prst="ellipse">
            <a:avLst/>
          </a:prstGeom>
          <a:solidFill>
            <a:srgbClr val="2563EB"/>
          </a:solidFill>
          <a:ln w="3175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64748B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790024" y="14950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381848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564728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및 강의 관리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8793328" y="3063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생성 후 미리보기 지원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</a:t>
            </a: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전체 현황 관리 제공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26568" y="4892040"/>
            <a:ext cx="113385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746608" y="502920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   </a:t>
            </a: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강좌 개설은 관리자 또는 강사가 진행합니다.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1에서 강사가 기본 정보를 등록하면 STEP 2에서 동영상 · 자료 파일 · 외부 URL을 업로드하고,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3에서 등록 완료 후 미리보기 제공 · 강의 전체 현황을 관리자 화면에서 통합 관리합니다.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업로드된 강의는 자동 검수 후 추천 알고리즘 가중치(슬라이드 10)에 따라 사용자에게 노출됩니다.</a:t>
            </a:r>
            <a:endParaRPr lang="en-US" sz="1150" dirty="0"/>
          </a:p>
        </p:txBody>
      </p:sp>
      <p:pic>
        <p:nvPicPr>
          <p:cNvPr id="31" name="Image 0" descr="media/image4.png">
            <a:extLst>
              <a:ext uri="{FF2B5EF4-FFF2-40B4-BE49-F238E27FC236}">
                <a16:creationId xmlns:a16="http://schemas.microsoft.com/office/drawing/2014/main" id="{46B3CDC4-4179-D8F2-0A71-925B1B056D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98326-D437-812B-7A38-49B2465A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C1B05C-CC22-E920-F65F-2C12EFD606F2}"/>
              </a:ext>
            </a:extLst>
          </p:cNvPr>
          <p:cNvSpPr/>
          <p:nvPr/>
        </p:nvSpPr>
        <p:spPr>
          <a:xfrm>
            <a:off x="50292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LMS UI 기획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833F6F-45F1-8EA7-B678-814BA7CE4F41}"/>
              </a:ext>
            </a:extLst>
          </p:cNvPr>
          <p:cNvSpPr/>
          <p:nvPr/>
        </p:nvSpPr>
        <p:spPr>
          <a:xfrm>
            <a:off x="502920" y="3291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필요한 사항</a:t>
            </a:r>
            <a:endParaRPr lang="en-US" sz="2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C9A231-F41F-C9AF-F5D2-0AE1AFDA5B1F}"/>
              </a:ext>
            </a:extLst>
          </p:cNvPr>
          <p:cNvSpPr/>
          <p:nvPr/>
        </p:nvSpPr>
        <p:spPr>
          <a:xfrm>
            <a:off x="502920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</a:t>
            </a:r>
            <a:r>
              <a:rPr lang="ko-KR" alt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연동 앱등록 권한문제 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DB7A18C-1F20-688A-8C42-B33DAF4410CA}"/>
              </a:ext>
            </a:extLst>
          </p:cNvPr>
          <p:cNvSpPr/>
          <p:nvPr/>
        </p:nvSpPr>
        <p:spPr>
          <a:xfrm>
            <a:off x="502920" y="6528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 UI 기획 · Confidential · 상급자 보고용</a:t>
            </a:r>
            <a:endParaRPr lang="en-US" sz="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39BD38B-2F61-1623-B3CD-6968D43579EC}"/>
              </a:ext>
            </a:extLst>
          </p:cNvPr>
          <p:cNvSpPr/>
          <p:nvPr/>
        </p:nvSpPr>
        <p:spPr>
          <a:xfrm>
            <a:off x="10789920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13</a:t>
            </a:r>
            <a:endParaRPr lang="en-US" sz="8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320E282-CE3F-1415-2094-478453FEF693}"/>
              </a:ext>
            </a:extLst>
          </p:cNvPr>
          <p:cNvSpPr/>
          <p:nvPr/>
        </p:nvSpPr>
        <p:spPr>
          <a:xfrm>
            <a:off x="426568" y="4892040"/>
            <a:ext cx="113385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B4CB404-764D-7630-575A-8C7989A2828C}"/>
              </a:ext>
            </a:extLst>
          </p:cNvPr>
          <p:cNvSpPr/>
          <p:nvPr/>
        </p:nvSpPr>
        <p:spPr>
          <a:xfrm>
            <a:off x="788942" y="4952662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앱 등록 권한 문제</a:t>
            </a:r>
            <a:endParaRPr lang="en-US" altLang="ko-KR" sz="1100" b="1" dirty="0">
              <a:solidFill>
                <a:srgbClr val="2563EB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800" dirty="0"/>
              <a:t>현재 </a:t>
            </a:r>
            <a:r>
              <a:rPr lang="en-US" altLang="ko-KR" sz="800" dirty="0" err="1"/>
              <a:t>microsoft</a:t>
            </a:r>
            <a:r>
              <a:rPr lang="ko-KR" altLang="en-US" sz="800" dirty="0"/>
              <a:t>계정으로 연동할려고 했으나 권한 문제로 앱등록이 불가함</a:t>
            </a:r>
            <a:endParaRPr lang="en-US" altLang="ko-KR" sz="800" dirty="0"/>
          </a:p>
          <a:p>
            <a:pPr>
              <a:lnSpc>
                <a:spcPct val="125000"/>
              </a:lnSpc>
            </a:pPr>
            <a:r>
              <a:rPr lang="ko-KR" alt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해결방안</a:t>
            </a:r>
            <a:endParaRPr lang="en-US" altLang="ko-KR" sz="1050" b="1" dirty="0">
              <a:solidFill>
                <a:srgbClr val="2563EB"/>
              </a:solidFill>
              <a:latin typeface="Malgun Gothic" pitchFamily="34" charset="0"/>
              <a:ea typeface="Malgun Gothic" pitchFamily="34" charset="-122"/>
            </a:endParaRPr>
          </a:p>
          <a:p>
            <a:pPr>
              <a:lnSpc>
                <a:spcPct val="125000"/>
              </a:lnSpc>
            </a:pPr>
            <a:r>
              <a:rPr lang="ko-KR" altLang="ko-KR" sz="800" dirty="0"/>
              <a:t>상단 </a:t>
            </a:r>
            <a:r>
              <a:rPr lang="ko-KR" altLang="ko-KR" sz="800" b="1" dirty="0"/>
              <a:t>"+ 새 등록(New registration)"</a:t>
            </a:r>
            <a:r>
              <a:rPr lang="ko-KR" altLang="ko-KR" sz="800" dirty="0"/>
              <a:t> 버튼 클릭✅ </a:t>
            </a:r>
            <a:r>
              <a:rPr lang="ko-KR" altLang="ko-KR" sz="800" b="1" dirty="0"/>
              <a:t>등록 화면이 뜨면</a:t>
            </a:r>
            <a:r>
              <a:rPr lang="ko-KR" altLang="ko-KR" sz="800" dirty="0"/>
              <a:t> → 진행 가능! (아래 계속)</a:t>
            </a:r>
            <a:endParaRPr lang="en-US" altLang="ko-KR" sz="800" dirty="0"/>
          </a:p>
          <a:p>
            <a:r>
              <a:rPr lang="ko-KR" altLang="ko-KR" sz="800" b="1" dirty="0"/>
              <a:t>이름</a:t>
            </a:r>
            <a:r>
              <a:rPr lang="ko-KR" altLang="ko-KR" sz="800" dirty="0"/>
              <a:t>: EST family LMS (아무거나)</a:t>
            </a:r>
          </a:p>
          <a:p>
            <a:r>
              <a:rPr lang="ko-KR" altLang="ko-KR" sz="800" b="1" dirty="0"/>
              <a:t>지원 계정 유형</a:t>
            </a:r>
            <a:r>
              <a:rPr lang="ko-KR" altLang="ko-KR" sz="800" dirty="0"/>
              <a:t>: 이 조직 디렉터리의 계정만 (단일 테넌트)</a:t>
            </a:r>
          </a:p>
          <a:p>
            <a:r>
              <a:rPr lang="ko-KR" altLang="ko-KR" sz="800" b="1" dirty="0"/>
              <a:t>리디렉션 URI</a:t>
            </a:r>
            <a:r>
              <a:rPr lang="ko-KR" altLang="ko-KR" sz="800" dirty="0"/>
              <a:t>: 플랫폼 </a:t>
            </a:r>
            <a:r>
              <a:rPr lang="ko-KR" altLang="ko-KR" sz="800" b="1" dirty="0"/>
              <a:t>웹(Web)</a:t>
            </a:r>
            <a:r>
              <a:rPr lang="ko-KR" altLang="ko-KR" sz="800" dirty="0"/>
              <a:t> 선택 → 값 입력:</a:t>
            </a:r>
          </a:p>
          <a:p>
            <a:r>
              <a:rPr lang="ko-KR" altLang="ko-KR" sz="800" dirty="0"/>
              <a:t>http://localhost:4000/auth/teams/callback</a:t>
            </a:r>
          </a:p>
          <a:p>
            <a:r>
              <a:rPr lang="ko-KR" altLang="ko-KR" sz="800" b="1" dirty="0"/>
              <a:t>등록</a:t>
            </a:r>
            <a:r>
              <a:rPr lang="ko-KR" altLang="ko-KR" sz="800" dirty="0"/>
              <a:t> 클릭</a:t>
            </a:r>
            <a:r>
              <a:rPr lang="en-US" altLang="ko-KR" sz="800" dirty="0"/>
              <a:t> -&gt; </a:t>
            </a:r>
            <a:r>
              <a:rPr lang="ko-KR" altLang="en-US" sz="800" dirty="0"/>
              <a:t>앱등록완성</a:t>
            </a:r>
            <a:endParaRPr lang="ko-KR" altLang="ko-KR" sz="120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150" dirty="0"/>
              <a:t> </a:t>
            </a:r>
            <a:endParaRPr lang="en-US" sz="1150" dirty="0"/>
          </a:p>
        </p:txBody>
      </p:sp>
      <p:pic>
        <p:nvPicPr>
          <p:cNvPr id="31" name="Image 0" descr="media/image4.png">
            <a:extLst>
              <a:ext uri="{FF2B5EF4-FFF2-40B4-BE49-F238E27FC236}">
                <a16:creationId xmlns:a16="http://schemas.microsoft.com/office/drawing/2014/main" id="{A20D5D5C-6772-01AA-1A2C-0CEB364E41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" r="53762" b="6279"/>
          <a:stretch>
            <a:fillRect/>
          </a:stretch>
        </p:blipFill>
        <p:spPr>
          <a:xfrm>
            <a:off x="10152047" y="47126"/>
            <a:ext cx="2039953" cy="43891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A017EB6-7F4C-C5CC-8666-5D39C1BDD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68" y="1115568"/>
            <a:ext cx="11338560" cy="342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84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1893</Words>
  <Application>Microsoft Office PowerPoint</Application>
  <PresentationFormat>Widescreen</PresentationFormat>
  <Paragraphs>349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Malgun Gothic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조현수</cp:lastModifiedBy>
  <cp:revision>14</cp:revision>
  <dcterms:created xsi:type="dcterms:W3CDTF">2026-07-16T06:18:08Z</dcterms:created>
  <dcterms:modified xsi:type="dcterms:W3CDTF">2026-07-20T04:07:15Z</dcterms:modified>
</cp:coreProperties>
</file>