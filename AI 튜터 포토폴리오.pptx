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226CB-AC61-4DF5-BC19-2524AD67E93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3C428-CBBC-4790-8511-13DD1D6EF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843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C4C8-7A74-682F-CE9C-C03A8DA0F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F49FF-B532-3812-6749-4807728A6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D7D08-F976-6FB5-DD73-7BA2DF7FA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0147-EA79-4CFA-80E3-6B014613E5B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04B51-4E28-6F56-3253-047EB176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C6547-3571-4573-DAE1-BC40D0393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3D87-EF2F-4E10-BB59-1E9B30C1D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38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34408-06FA-DD48-B825-D997F14E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BE3C-362B-FCA4-9642-9E62D0C84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05AB-EA35-5E1A-CBE1-B741379EE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0147-EA79-4CFA-80E3-6B014613E5B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59DC3-5415-4C81-6D9F-76529567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805F4-A112-40AE-F22F-98B90E6F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3D87-EF2F-4E10-BB59-1E9B30C1D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678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52C2-BDC1-99C8-E0E5-D262F6759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68A8E-C293-9916-CEC7-6EBD6B9A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529C6-9D3C-5185-F5B0-464D6396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0147-EA79-4CFA-80E3-6B014613E5B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372B6-0553-0089-B6E9-56E680E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BBD59-9F7D-2163-28F1-63A1B101F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3D87-EF2F-4E10-BB59-1E9B30C1D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16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704D-5E2A-CA3B-560C-0097D9F71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D0A50-7BC4-3D1E-0060-AFBFAE945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9B8C7-B811-1806-E055-9C554E67D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08BE0-37B9-A03C-CC6F-AF98E4247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0147-EA79-4CFA-80E3-6B014613E5B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B20C5-B265-9D35-C005-C781F6790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6D19C-6A21-B481-E71F-B264CC99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3D87-EF2F-4E10-BB59-1E9B30C1D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77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BE23-5981-C7F2-B967-604AAD6F6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02C40-1B2B-B2A2-275D-1233950E2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57CCE-0015-68F7-983F-9C6E9A93A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1F847-4E8B-FB67-081F-C77ED0625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0F17AD-2DBF-CDB1-2C95-001C9429EF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29A8E5-A31A-6D89-EB3D-B93C9C17C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0147-EA79-4CFA-80E3-6B014613E5B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534BAA-C4B7-0725-30DB-698F26F14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AE593-5CDE-B662-813E-84C1EB88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3D87-EF2F-4E10-BB59-1E9B30C1D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DEC3-C3F5-1F03-ED7E-499B6DB87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1792E-8131-AC51-749B-F39DA38A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0147-EA79-4CFA-80E3-6B014613E5B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85CBBC-1B94-A359-8EE9-4C0A60DE2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928AF-BA77-D2A4-2466-2BD1A9A3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3D87-EF2F-4E10-BB59-1E9B30C1D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468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FFC5B-52FB-A595-DF0A-AD9F4470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0147-EA79-4CFA-80E3-6B014613E5B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E9884-FA47-B98F-ABD2-A9D532F4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B62D3-306B-2060-7BB7-F6B44EC2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3D87-EF2F-4E10-BB59-1E9B30C1D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894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00CB-D4BB-2929-0813-A5BEF2075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4EC46-75A1-53DE-3162-D04EA6980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F7EE9-B4B8-E8B4-ED1D-04D0785D5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9732D-EE7A-F677-AE9F-996A8BEF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0147-EA79-4CFA-80E3-6B014613E5B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195AF-7CF5-8AC6-6893-E262D03F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42787-6A4A-E10A-8BEB-2CD5230F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3D87-EF2F-4E10-BB59-1E9B30C1D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382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7A44-18DE-50A8-E0D8-FCC029BD5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7EE6F-73F6-D202-9544-627AD3C41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AEEDE-E27C-8619-FAED-84F8C15B4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51961-CE04-836D-F9DB-6F87666EC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0147-EA79-4CFA-80E3-6B014613E5B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D0E54-E1B9-DDA6-6CBA-AD096B10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EDB0A-5BEC-C2C4-D7DD-6660C045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3D87-EF2F-4E10-BB59-1E9B30C1D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94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A23F-F001-0531-7B37-C4596B266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ECB2E-ECC2-79C3-A958-1C0F3C756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79D21-CF24-3515-B0C8-BC626089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0147-EA79-4CFA-80E3-6B014613E5B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AC0FE-B0A1-ADB4-0732-3178B1E2A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FD7D8-9730-89B1-82E2-2E8EB998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3D87-EF2F-4E10-BB59-1E9B30C1D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50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C003D-2B9A-94B7-ADA0-9A32B09970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51E58-14EE-FCF3-D7DE-4B78F7358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A0558-E3EB-E131-80D5-B73058C2B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0147-EA79-4CFA-80E3-6B014613E5B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83CD9-5D09-9071-C908-AA53EF24D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F3646-7D16-21A9-572D-6D337016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3D87-EF2F-4E10-BB59-1E9B30C1D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065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80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B1A36C-3AAD-E2C3-9B87-2A257635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7EB11-5458-1D44-F40F-6BFD10D49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4ACFF-FC6D-338F-88C2-D5E70C00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910147-EA79-4CFA-80E3-6B014613E5B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6DA90-B299-62DF-A151-E0BE3AD5B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DEF03-EF08-CCDC-E9B5-DF69805775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83D87-EF2F-4E10-BB59-1E9B30C1DD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86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7D765-386C-C584-3846-FDD2C94D1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튜터 포토폴리오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B01F5-6EE3-0E75-10BA-2A326BC66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558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AI 튜터 도입 기획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503920" y="6583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1 /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61872" y="40233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튜터 도입 전체 흐름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21208" y="914400"/>
            <a:ext cx="457200" cy="32004"/>
          </a:xfrm>
          <a:prstGeom prst="rect">
            <a:avLst/>
          </a:prstGeom>
          <a:solidFill>
            <a:srgbClr val="1B6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0" y="1033272"/>
            <a:ext cx="12191695" cy="12802"/>
          </a:xfrm>
          <a:prstGeom prst="rect">
            <a:avLst/>
          </a:prstGeom>
          <a:solidFill>
            <a:srgbClr val="E3E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1188720"/>
            <a:ext cx="11185855" cy="1810512"/>
          </a:xfrm>
          <a:prstGeom prst="roundRect">
            <a:avLst>
              <a:gd name="adj" fmla="val 4040"/>
            </a:avLst>
          </a:prstGeom>
          <a:solidFill>
            <a:srgbClr val="F7FAFD"/>
          </a:solidFill>
          <a:ln w="15875">
            <a:solidFill>
              <a:srgbClr val="9DB8D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04088" y="12527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73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r>
              <a:rPr lang="en-US" sz="1300" b="1" dirty="0">
                <a:solidFill>
                  <a:srgbClr val="173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b="1" dirty="0">
                <a:solidFill>
                  <a:srgbClr val="173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방안</a:t>
            </a:r>
            <a:r>
              <a:rPr lang="en-US" altLang="ko-KR" sz="1300" b="1" dirty="0">
                <a:solidFill>
                  <a:srgbClr val="173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1 .</a:t>
            </a:r>
            <a:r>
              <a:rPr lang="en-US" sz="1300" b="1" dirty="0">
                <a:solidFill>
                  <a:srgbClr val="173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역량진단 프로토타입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627632"/>
            <a:ext cx="1559509" cy="566928"/>
          </a:xfrm>
          <a:prstGeom prst="roundRect">
            <a:avLst>
              <a:gd name="adj" fmla="val 9677"/>
            </a:avLst>
          </a:prstGeom>
          <a:solidFill>
            <a:srgbClr val="17375E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1627632"/>
            <a:ext cx="146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(임직원)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286000"/>
            <a:ext cx="1650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직무·직급 선택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18461" y="1911096"/>
            <a:ext cx="219456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565349" y="1627632"/>
            <a:ext cx="1559509" cy="566928"/>
          </a:xfrm>
          <a:prstGeom prst="roundRect">
            <a:avLst>
              <a:gd name="adj" fmla="val 9677"/>
            </a:avLst>
          </a:prstGeom>
          <a:solidFill>
            <a:srgbClr val="17375E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11069" y="1627632"/>
            <a:ext cx="146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HTML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(Web 프로토타입)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9629" y="2286000"/>
            <a:ext cx="1650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20문항 응답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(브라우저 내 계산)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52290" y="1911096"/>
            <a:ext cx="219456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399178" y="1627632"/>
            <a:ext cx="1559509" cy="566928"/>
          </a:xfrm>
          <a:prstGeom prst="roundRect">
            <a:avLst>
              <a:gd name="adj" fmla="val 9677"/>
            </a:avLst>
          </a:prstGeom>
          <a:solidFill>
            <a:srgbClr val="17375E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444898" y="1627632"/>
            <a:ext cx="146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 산출 (7종)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53458" y="2286000"/>
            <a:ext cx="1650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E·V·P·O·C·F·R 점수화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86120" y="1911096"/>
            <a:ext cx="219456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233008" y="1627632"/>
            <a:ext cx="1559509" cy="566928"/>
          </a:xfrm>
          <a:prstGeom prst="roundRect">
            <a:avLst>
              <a:gd name="adj" fmla="val 9677"/>
            </a:avLst>
          </a:prstGeom>
          <a:solidFill>
            <a:srgbClr val="17375E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278728" y="1627632"/>
            <a:ext cx="146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판정</a:t>
            </a:r>
            <a:endParaRPr lang="en-US" sz="11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(E·V·O·F 평균)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87288" y="2286000"/>
            <a:ext cx="1650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BEGINNER / JUNIOR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INTERMEDIATE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19949" y="1911096"/>
            <a:ext cx="219456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066837" y="1627632"/>
            <a:ext cx="1559509" cy="566928"/>
          </a:xfrm>
          <a:prstGeom prst="roundRect">
            <a:avLst>
              <a:gd name="adj" fmla="val 9677"/>
            </a:avLst>
          </a:prstGeom>
          <a:solidFill>
            <a:srgbClr val="17375E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112557" y="1627632"/>
            <a:ext cx="146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추천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21117" y="2286000"/>
            <a:ext cx="1650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역량 매칭 (시드 15건)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53778" y="1911096"/>
            <a:ext cx="219456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9900666" y="1627632"/>
            <a:ext cx="1559509" cy="566928"/>
          </a:xfrm>
          <a:prstGeom prst="roundRect">
            <a:avLst>
              <a:gd name="adj" fmla="val 9677"/>
            </a:avLst>
          </a:prstGeom>
          <a:solidFill>
            <a:srgbClr val="17375E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946386" y="1627632"/>
            <a:ext cx="146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미저장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54946" y="2286000"/>
            <a:ext cx="1650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 후 종료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3246120"/>
            <a:ext cx="11185855" cy="2121408"/>
          </a:xfrm>
          <a:prstGeom prst="roundRect">
            <a:avLst>
              <a:gd name="adj" fmla="val 3448"/>
            </a:avLst>
          </a:prstGeom>
          <a:solidFill>
            <a:srgbClr val="F8FBF7"/>
          </a:solidFill>
          <a:ln w="15875">
            <a:solidFill>
              <a:srgbClr val="A8C9A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04088" y="33101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57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</a:t>
            </a:r>
            <a:r>
              <a:rPr lang="ko-KR" altLang="en-US" sz="1300" b="1" dirty="0">
                <a:solidFill>
                  <a:srgbClr val="357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방안</a:t>
            </a:r>
            <a:r>
              <a:rPr lang="en-US" sz="1300" b="1" dirty="0">
                <a:solidFill>
                  <a:srgbClr val="357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357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단부터</a:t>
            </a:r>
            <a:r>
              <a:rPr lang="en-US" sz="1300" b="1" dirty="0">
                <a:solidFill>
                  <a:srgbClr val="357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튜터까지 학습 파이프라인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3685032"/>
            <a:ext cx="1559509" cy="566928"/>
          </a:xfrm>
          <a:prstGeom prst="roundRect">
            <a:avLst>
              <a:gd name="adj" fmla="val 9677"/>
            </a:avLst>
          </a:prstGeom>
          <a:solidFill>
            <a:srgbClr val="35703B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77240" y="3685032"/>
            <a:ext cx="146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역량 진단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5800" y="4343400"/>
            <a:ext cx="16509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HTML 20문항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역량 도출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318461" y="3968496"/>
            <a:ext cx="219456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565349" y="3685032"/>
            <a:ext cx="1559509" cy="566928"/>
          </a:xfrm>
          <a:prstGeom prst="roundRect">
            <a:avLst>
              <a:gd name="adj" fmla="val 9677"/>
            </a:avLst>
          </a:prstGeom>
          <a:solidFill>
            <a:srgbClr val="35703B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611069" y="3685032"/>
            <a:ext cx="146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강의 검색·담기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519629" y="4343400"/>
            <a:ext cx="16509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기반 큐레이션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강의 보관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로드맵 관리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52290" y="3968496"/>
            <a:ext cx="219456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399178" y="3685032"/>
            <a:ext cx="1559509" cy="566928"/>
          </a:xfrm>
          <a:prstGeom prst="roundRect">
            <a:avLst>
              <a:gd name="adj" fmla="val 9677"/>
            </a:avLst>
          </a:prstGeom>
          <a:solidFill>
            <a:srgbClr val="35703B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444898" y="3685032"/>
            <a:ext cx="146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강의 수강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353458" y="4343400"/>
            <a:ext cx="16509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몰입형 플레이어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진척도 시각화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연동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86120" y="3968496"/>
            <a:ext cx="219456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6233008" y="3685032"/>
            <a:ext cx="1559509" cy="566928"/>
          </a:xfrm>
          <a:prstGeom prst="roundRect">
            <a:avLst>
              <a:gd name="adj" fmla="val 9677"/>
            </a:avLst>
          </a:prstGeom>
          <a:solidFill>
            <a:srgbClr val="35703B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278728" y="3685032"/>
            <a:ext cx="146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STT / VTT 추출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187288" y="4343400"/>
            <a:ext cx="16509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음성·영상 → 텍스트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자막·슬라이드 OCR 병합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819949" y="3968496"/>
            <a:ext cx="219456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8066837" y="3685032"/>
            <a:ext cx="1559509" cy="566928"/>
          </a:xfrm>
          <a:prstGeom prst="roundRect">
            <a:avLst>
              <a:gd name="adj" fmla="val 9677"/>
            </a:avLst>
          </a:prstGeom>
          <a:solidFill>
            <a:srgbClr val="35703B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8112557" y="3685032"/>
            <a:ext cx="146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LLM 요약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021117" y="4343400"/>
            <a:ext cx="16509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계층적 핵심 요약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베이스화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653778" y="3968496"/>
            <a:ext cx="219456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9900666" y="3685032"/>
            <a:ext cx="1559509" cy="566928"/>
          </a:xfrm>
          <a:prstGeom prst="roundRect">
            <a:avLst>
              <a:gd name="adj" fmla="val 9677"/>
            </a:avLst>
          </a:prstGeom>
          <a:solidFill>
            <a:srgbClr val="35703B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9946386" y="3685032"/>
            <a:ext cx="146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AI 튜터 챗봇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9854946" y="4343400"/>
            <a:ext cx="16509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프롬프트 주입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질의응답·퀴즈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2920" y="5596128"/>
            <a:ext cx="11185855" cy="548640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 w="12700">
            <a:solidFill>
              <a:srgbClr val="B9C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731520" y="5596128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차이 : </a:t>
            </a:r>
            <a:r>
              <a:rPr lang="en-US" sz="1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To-Be는 진단 결과가 화면에서 끝나지 않고 검색→담기→수강→STT/VTT→요약→튜터로 이어지는 학습 루프를 형성 — 진단·수강 데이터가 AI 튜터의 개인화 재료가 됩니다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02920" y="6291072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설명: </a:t>
            </a:r>
            <a:r>
              <a:rPr lang="en-US" altLang="ko-KR" sz="11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(As-Is): </a:t>
            </a:r>
            <a:r>
              <a:rPr lang="en-US" sz="11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역량진단 프로토타입의 </a:t>
            </a:r>
            <a:r>
              <a:rPr lang="en-US" sz="1100" b="1" dirty="0" err="1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r>
              <a:rPr lang="en-US" sz="11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To-Be: </a:t>
            </a:r>
            <a:r>
              <a:rPr lang="ko-KR" altLang="en-US" sz="11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튜터 도입 후</a:t>
            </a:r>
            <a:r>
              <a:rPr lang="en-US" sz="11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 흐름을 단계별 박스로 비교한 것입니다.</a:t>
            </a:r>
            <a:endParaRPr lang="en-US" sz="1100" b="1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E49087ED-3D7B-D336-2925-7C34B0006A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53355" b="-3836"/>
          <a:stretch>
            <a:fillRect/>
          </a:stretch>
        </p:blipFill>
        <p:spPr>
          <a:xfrm>
            <a:off x="10258507" y="50451"/>
            <a:ext cx="1875633" cy="4950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AI 튜터 도입 기획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503920" y="6583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2 /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61872" y="40233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 1 — 진단 연계형 AI 튜터 (진단 HTML 확장)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21208" y="914400"/>
            <a:ext cx="457200" cy="32004"/>
          </a:xfrm>
          <a:prstGeom prst="rect">
            <a:avLst/>
          </a:prstGeom>
          <a:solidFill>
            <a:srgbClr val="1B6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0" y="1033272"/>
            <a:ext cx="12191695" cy="12802"/>
          </a:xfrm>
          <a:prstGeom prst="rect">
            <a:avLst/>
          </a:prstGeom>
          <a:solidFill>
            <a:srgbClr val="E3E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1170432"/>
            <a:ext cx="11185855" cy="868680"/>
          </a:xfrm>
          <a:prstGeom prst="roundRect">
            <a:avLst>
              <a:gd name="adj" fmla="val 7368"/>
            </a:avLst>
          </a:prstGeom>
          <a:solidFill>
            <a:srgbClr val="FBFAF8"/>
          </a:solidFill>
          <a:ln w="15875">
            <a:solidFill>
              <a:srgbClr val="C4BCB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04088" y="11704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</a:t>
            </a:r>
            <a:r>
              <a:rPr lang="en-US" sz="1350" b="1" dirty="0">
                <a:solidFill>
                  <a:srgbClr val="555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원천 레이어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61786" y="1261872"/>
            <a:ext cx="6754124" cy="402336"/>
          </a:xfrm>
          <a:prstGeom prst="roundRect">
            <a:avLst>
              <a:gd name="adj" fmla="val 13636"/>
            </a:avLst>
          </a:prstGeom>
          <a:solidFill>
            <a:srgbClr val="555B63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907506" y="1261872"/>
            <a:ext cx="66626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 진단 결과 (E·V·P·O·C·F·R)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1700784"/>
            <a:ext cx="8442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원천 · 20문항 점수 + 레벨 판정 + 약점 역량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37360" y="2034540"/>
            <a:ext cx="0" cy="109728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139696"/>
            <a:ext cx="11185855" cy="868680"/>
          </a:xfrm>
          <a:prstGeom prst="roundRect">
            <a:avLst>
              <a:gd name="adj" fmla="val 7368"/>
            </a:avLst>
          </a:prstGeom>
          <a:solidFill>
            <a:srgbClr val="F7FAFD"/>
          </a:solidFill>
          <a:ln w="15875">
            <a:solidFill>
              <a:srgbClr val="9DB8D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04088" y="2139696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</a:t>
            </a:r>
            <a:r>
              <a:rPr lang="en-US" sz="1350" b="1" dirty="0">
                <a:solidFill>
                  <a:srgbClr val="173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인터페이스 레이어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61786" y="2231136"/>
            <a:ext cx="6754124" cy="402336"/>
          </a:xfrm>
          <a:prstGeom prst="roundRect">
            <a:avLst>
              <a:gd name="adj" fmla="val 13636"/>
            </a:avLst>
          </a:prstGeom>
          <a:solidFill>
            <a:srgbClr val="17375E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07506" y="2231136"/>
            <a:ext cx="66626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HTML + 챗봇 위젯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670048"/>
            <a:ext cx="8442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화면에 튜터 임베드 · 진단 직후 대화 시작 (SSE 스트리밍)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737360" y="3003804"/>
            <a:ext cx="0" cy="109728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02920" y="3108960"/>
            <a:ext cx="11185855" cy="868680"/>
          </a:xfrm>
          <a:prstGeom prst="roundRect">
            <a:avLst>
              <a:gd name="adj" fmla="val 7368"/>
            </a:avLst>
          </a:prstGeom>
          <a:solidFill>
            <a:srgbClr val="F8FBF7"/>
          </a:solidFill>
          <a:ln w="15875">
            <a:solidFill>
              <a:srgbClr val="A8C9A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04088" y="31089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57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</a:t>
            </a:r>
            <a:r>
              <a:rPr lang="en-US" sz="1350" b="1" dirty="0">
                <a:solidFill>
                  <a:srgbClr val="357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레이어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9079" y="3200400"/>
            <a:ext cx="3212470" cy="402336"/>
          </a:xfrm>
          <a:prstGeom prst="roundRect">
            <a:avLst>
              <a:gd name="adj" fmla="val 13636"/>
            </a:avLst>
          </a:prstGeom>
          <a:solidFill>
            <a:srgbClr val="35703B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464799" y="3200400"/>
            <a:ext cx="31210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(튜터 API)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3639312"/>
            <a:ext cx="4015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웹 서버 · POST /api/tutor 진단 결과 수신·대화 트리거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46146" y="3200400"/>
            <a:ext cx="3212470" cy="402336"/>
          </a:xfrm>
          <a:prstGeom prst="roundRect">
            <a:avLst>
              <a:gd name="adj" fmla="val 13636"/>
            </a:avLst>
          </a:prstGeom>
          <a:solidFill>
            <a:srgbClr val="35703B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891866" y="3200400"/>
            <a:ext cx="31210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44588" y="3639312"/>
            <a:ext cx="4015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결과(약점 역량·레벨) → 시스템 프롬프트 자동 구성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737360" y="3973068"/>
            <a:ext cx="0" cy="109728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02920" y="4078224"/>
            <a:ext cx="11185855" cy="868680"/>
          </a:xfrm>
          <a:prstGeom prst="roundRect">
            <a:avLst>
              <a:gd name="adj" fmla="val 7368"/>
            </a:avLst>
          </a:prstGeom>
          <a:solidFill>
            <a:srgbClr val="FDFAF6"/>
          </a:solidFill>
          <a:ln w="15875">
            <a:solidFill>
              <a:srgbClr val="E0B48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04088" y="407822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5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</a:t>
            </a:r>
            <a:r>
              <a:rPr lang="en-US" sz="1350" b="1" dirty="0">
                <a:solidFill>
                  <a:srgbClr val="B056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추천 레이어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19079" y="4169664"/>
            <a:ext cx="3212470" cy="402336"/>
          </a:xfrm>
          <a:prstGeom prst="roundRect">
            <a:avLst>
              <a:gd name="adj" fmla="val 13636"/>
            </a:avLst>
          </a:prstGeom>
          <a:solidFill>
            <a:srgbClr val="B0561C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464799" y="4169664"/>
            <a:ext cx="31210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질의응답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17520" y="4608576"/>
            <a:ext cx="4015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역량 기반 학습 가이드 · 단계별 설명 생성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846146" y="4169664"/>
            <a:ext cx="3212470" cy="402336"/>
          </a:xfrm>
          <a:prstGeom prst="roundRect">
            <a:avLst>
              <a:gd name="adj" fmla="val 13636"/>
            </a:avLst>
          </a:prstGeom>
          <a:solidFill>
            <a:srgbClr val="B0561C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891866" y="4169664"/>
            <a:ext cx="31210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시드 매핑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44588" y="4608576"/>
            <a:ext cx="4015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인프런 수강이력 15건 · 역량 태그 매칭 추천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737360" y="4942332"/>
            <a:ext cx="0" cy="109728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02920" y="5047488"/>
            <a:ext cx="11185855" cy="868680"/>
          </a:xfrm>
          <a:prstGeom prst="roundRect">
            <a:avLst>
              <a:gd name="adj" fmla="val 7368"/>
            </a:avLst>
          </a:prstGeom>
          <a:solidFill>
            <a:srgbClr val="FAF8FD"/>
          </a:solidFill>
          <a:ln w="15875">
            <a:solidFill>
              <a:srgbClr val="BBAED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04088" y="504748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3D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</a:t>
            </a:r>
            <a:r>
              <a:rPr lang="en-US" sz="1350" b="1" dirty="0">
                <a:solidFill>
                  <a:srgbClr val="4C3D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레이어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61786" y="5138928"/>
            <a:ext cx="6754124" cy="402336"/>
          </a:xfrm>
          <a:prstGeom prst="roundRect">
            <a:avLst>
              <a:gd name="adj" fmla="val 13636"/>
            </a:avLst>
          </a:prstGeom>
          <a:solidFill>
            <a:srgbClr val="4C3D75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907506" y="5138928"/>
            <a:ext cx="66626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5577840"/>
            <a:ext cx="8442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이력 · 튜터 대화 히스토리 저장 (기존 미저장 개선)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6053328"/>
            <a:ext cx="11185855" cy="475488"/>
          </a:xfrm>
          <a:prstGeom prst="roundRect">
            <a:avLst>
              <a:gd name="adj" fmla="val 9615"/>
            </a:avLst>
          </a:prstGeom>
          <a:solidFill>
            <a:srgbClr val="F4F7FC"/>
          </a:solidFill>
          <a:ln w="12700">
            <a:solidFill>
              <a:srgbClr val="B9C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31520" y="6053328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: </a:t>
            </a: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데이터 없이 진단 결과만 프롬프트로 주입하는 경량 구조 — 빠른 도입이 가능하나, 강의 ‘내용’ 질문은 답변 범위가 제한됩니다.</a:t>
            </a:r>
            <a:endParaRPr lang="en-US" sz="12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EC96DFB-C1C7-FB7F-AF73-395969DBB1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53355" b="-3836"/>
          <a:stretch>
            <a:fillRect/>
          </a:stretch>
        </p:blipFill>
        <p:spPr>
          <a:xfrm>
            <a:off x="10258507" y="50451"/>
            <a:ext cx="1875633" cy="4950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AI 튜터 도입 기획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503920" y="6583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3 /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61872" y="40233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 2 — 수강 데이터 기반 AI 튜터 (STT/VTT)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21208" y="914400"/>
            <a:ext cx="457200" cy="32004"/>
          </a:xfrm>
          <a:prstGeom prst="rect">
            <a:avLst/>
          </a:prstGeom>
          <a:solidFill>
            <a:srgbClr val="1B6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0" y="1033272"/>
            <a:ext cx="12191695" cy="12802"/>
          </a:xfrm>
          <a:prstGeom prst="rect">
            <a:avLst/>
          </a:prstGeom>
          <a:solidFill>
            <a:srgbClr val="E3E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1170432"/>
            <a:ext cx="11185855" cy="1481328"/>
          </a:xfrm>
          <a:prstGeom prst="roundRect">
            <a:avLst>
              <a:gd name="adj" fmla="val 4938"/>
            </a:avLst>
          </a:prstGeom>
          <a:solidFill>
            <a:srgbClr val="F7FAFD"/>
          </a:solidFill>
          <a:ln w="15875">
            <a:solidFill>
              <a:srgbClr val="9DB8D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04088" y="12344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73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</a:t>
            </a:r>
            <a:r>
              <a:rPr lang="en-US" sz="1300" b="1" dirty="0">
                <a:solidFill>
                  <a:srgbClr val="173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(Front-end / UI)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554480"/>
            <a:ext cx="3240938" cy="502920"/>
          </a:xfrm>
          <a:prstGeom prst="roundRect">
            <a:avLst>
              <a:gd name="adj" fmla="val 10909"/>
            </a:avLst>
          </a:prstGeom>
          <a:solidFill>
            <a:srgbClr val="17375E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검색·담기 UI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130552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역량 큐레이션 ·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강의 보관·로드맵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75378" y="1554480"/>
            <a:ext cx="3240938" cy="502920"/>
          </a:xfrm>
          <a:prstGeom prst="roundRect">
            <a:avLst>
              <a:gd name="adj" fmla="val 10909"/>
            </a:avLst>
          </a:prstGeom>
          <a:solidFill>
            <a:srgbClr val="17375E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21098" y="155448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플레이어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75378" y="2130552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몰입형 수강 환경 ·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진척도 대시보드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73517" y="1554480"/>
            <a:ext cx="3240938" cy="502920"/>
          </a:xfrm>
          <a:prstGeom prst="roundRect">
            <a:avLst>
              <a:gd name="adj" fmla="val 10909"/>
            </a:avLst>
          </a:prstGeom>
          <a:solidFill>
            <a:srgbClr val="17375E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19237" y="155448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튜터 챗봇 UI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73517" y="2130552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맥락 질의응답 ·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퀴즈 · 심화 자료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97709" y="2651760"/>
            <a:ext cx="0" cy="384048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489149" y="2715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· 시청 데이터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95848" y="2651760"/>
            <a:ext cx="0" cy="384048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187288" y="2715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입력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793986" y="2651760"/>
            <a:ext cx="0" cy="384048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885426" y="2715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(스트리밍)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3035808"/>
            <a:ext cx="11185855" cy="1481328"/>
          </a:xfrm>
          <a:prstGeom prst="roundRect">
            <a:avLst>
              <a:gd name="adj" fmla="val 4938"/>
            </a:avLst>
          </a:prstGeom>
          <a:solidFill>
            <a:srgbClr val="F8FBF7"/>
          </a:solidFill>
          <a:ln w="15875">
            <a:solidFill>
              <a:srgbClr val="A8C9A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04088" y="3099816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57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</a:t>
            </a:r>
            <a:r>
              <a:rPr lang="en-US" sz="1300" b="1" dirty="0">
                <a:solidFill>
                  <a:srgbClr val="357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(Back-end / API · AI · DB)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3419856"/>
            <a:ext cx="2419274" cy="502920"/>
          </a:xfrm>
          <a:prstGeom prst="roundRect">
            <a:avLst>
              <a:gd name="adj" fmla="val 10909"/>
            </a:avLst>
          </a:prstGeom>
          <a:solidFill>
            <a:srgbClr val="35703B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22960" y="3419856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(플랫폼 API)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3995928"/>
            <a:ext cx="241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검색·담기·수강 API ·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/api/ingest 수강 데이터 수집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33090" y="3671316"/>
            <a:ext cx="246888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516554" y="3419856"/>
            <a:ext cx="2419274" cy="502920"/>
          </a:xfrm>
          <a:prstGeom prst="roundRect">
            <a:avLst>
              <a:gd name="adj" fmla="val 10909"/>
            </a:avLst>
          </a:prstGeom>
          <a:solidFill>
            <a:srgbClr val="35703B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562274" y="3419856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/ VTT 엔진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16554" y="3995928"/>
            <a:ext cx="241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인식 · 자막 파싱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고정밀 텍스트 변환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72404" y="3671316"/>
            <a:ext cx="246888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255868" y="3419856"/>
            <a:ext cx="2419274" cy="502920"/>
          </a:xfrm>
          <a:prstGeom prst="roundRect">
            <a:avLst>
              <a:gd name="adj" fmla="val 10909"/>
            </a:avLst>
          </a:prstGeom>
          <a:solidFill>
            <a:srgbClr val="B0561C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301588" y="3419856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LLM · 프롬프트 엔진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55868" y="3995928"/>
            <a:ext cx="241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계층적 요약 생성 ·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→ 시스템 프롬프트 주입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711717" y="3671316"/>
            <a:ext cx="246888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8995181" y="3419856"/>
            <a:ext cx="2419274" cy="502920"/>
          </a:xfrm>
          <a:prstGeom prst="roundRect">
            <a:avLst>
              <a:gd name="adj" fmla="val 10909"/>
            </a:avLst>
          </a:prstGeom>
          <a:solidFill>
            <a:srgbClr val="6B2422"/>
          </a:solidFill>
          <a:ln/>
          <a:effectLst>
            <a:outerShdw blurRad="50800" dist="12700" dir="5400000" algn="bl" rotWithShape="0">
              <a:srgbClr val="8A94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040901" y="3419856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: 벡터DB · PostgreSQL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995181" y="3995928"/>
            <a:ext cx="241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지식 베이스 색인 ·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이력·대화 저장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986877" y="4517136"/>
            <a:ext cx="0" cy="347472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2078317" y="45628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데이터 인제스트 트리거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204818" y="4517136"/>
            <a:ext cx="0" cy="347472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0296258" y="45628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지식 동기화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4864608"/>
            <a:ext cx="9189720" cy="1371600"/>
          </a:xfrm>
          <a:prstGeom prst="roundRect">
            <a:avLst>
              <a:gd name="adj" fmla="val 5333"/>
            </a:avLst>
          </a:prstGeom>
          <a:solidFill>
            <a:srgbClr val="FBFAF8"/>
          </a:solidFill>
          <a:ln w="15875">
            <a:solidFill>
              <a:srgbClr val="C4BCB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704088" y="4928616"/>
            <a:ext cx="8823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</a:t>
            </a:r>
            <a:r>
              <a:rPr lang="en-US" sz="1300" b="1" dirty="0">
                <a:solidFill>
                  <a:srgbClr val="555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데이터 파이프라인 / 자동화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1520" y="5248656"/>
            <a:ext cx="12877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B9B2A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68096" y="5248656"/>
            <a:ext cx="12146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수강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영상·음성 스트림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046732" y="5660136"/>
            <a:ext cx="146304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2220468" y="5248656"/>
            <a:ext cx="12877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B9B2A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2257044" y="5248656"/>
            <a:ext cx="12146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STT / VTT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변환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535680" y="5660136"/>
            <a:ext cx="146304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3709416" y="5248656"/>
            <a:ext cx="12877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B9B2A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3745992" y="5248656"/>
            <a:ext cx="12146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텍스트 추출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자막·OCR 병합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4628" y="5660136"/>
            <a:ext cx="146304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198364" y="5248656"/>
            <a:ext cx="12877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B9B2A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5234940" y="5248656"/>
            <a:ext cx="12146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LLM 요약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계층적 요약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513576" y="5660136"/>
            <a:ext cx="146304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687312" y="5248656"/>
            <a:ext cx="12877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B9B2A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6723888" y="5248656"/>
            <a:ext cx="12146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지식 베이스화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임베딩·색인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002524" y="5660136"/>
            <a:ext cx="146304" cy="0"/>
          </a:xfrm>
          <a:prstGeom prst="line">
            <a:avLst/>
          </a:prstGeom>
          <a:noFill/>
          <a:ln w="22225">
            <a:solidFill>
              <a:srgbClr val="8F88C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8176260" y="5248656"/>
            <a:ext cx="12877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B9B2A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8212836" y="5248656"/>
            <a:ext cx="12146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튜터 답변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주입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921240" y="4864608"/>
            <a:ext cx="1767535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10058400" y="5024628"/>
            <a:ext cx="146304" cy="14630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10287000" y="4983480"/>
            <a:ext cx="1310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0058400" y="5262372"/>
            <a:ext cx="146304" cy="146304"/>
          </a:xfrm>
          <a:prstGeom prst="rect">
            <a:avLst/>
          </a:prstGeom>
          <a:solidFill>
            <a:srgbClr val="3570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10287000" y="5221224"/>
            <a:ext cx="1310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/ API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10058400" y="5500116"/>
            <a:ext cx="146304" cy="146304"/>
          </a:xfrm>
          <a:prstGeom prst="rect">
            <a:avLst/>
          </a:prstGeom>
          <a:solidFill>
            <a:srgbClr val="B056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10287000" y="5458968"/>
            <a:ext cx="1310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LLM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0058400" y="5737860"/>
            <a:ext cx="146304" cy="146304"/>
          </a:xfrm>
          <a:prstGeom prst="rect">
            <a:avLst/>
          </a:prstGeom>
          <a:solidFill>
            <a:srgbClr val="6B24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10287000" y="5696712"/>
            <a:ext cx="1310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(저장소)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0058400" y="5975604"/>
            <a:ext cx="146304" cy="146304"/>
          </a:xfrm>
          <a:prstGeom prst="rect">
            <a:avLst/>
          </a:prstGeom>
          <a:solidFill>
            <a:srgbClr val="555B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10287000" y="5934456"/>
            <a:ext cx="1310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/ 자동화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02920" y="6345936"/>
            <a:ext cx="111858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설명: 대안 2는 수강 중 생성되는 STT/VTT 텍스트를 추출·요약해 지식 베이스로 만들고, 이를 프롬프트로 주입해 강의 내용까지 답하는 튜터를 구현합니다.</a:t>
            </a:r>
            <a:endParaRPr lang="en-US" sz="1050" b="1" dirty="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84A7D48B-4589-D8C3-EA79-4C0E3414D6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53355" b="-3836"/>
          <a:stretch>
            <a:fillRect/>
          </a:stretch>
        </p:blipFill>
        <p:spPr>
          <a:xfrm>
            <a:off x="10258507" y="50451"/>
            <a:ext cx="1875633" cy="4950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AI 튜터 도입 기획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503920" y="6583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4 /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61872" y="40233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 비교 (개요)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21208" y="914400"/>
            <a:ext cx="457200" cy="32004"/>
          </a:xfrm>
          <a:prstGeom prst="rect">
            <a:avLst/>
          </a:prstGeom>
          <a:solidFill>
            <a:srgbClr val="1B6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0" y="1033272"/>
            <a:ext cx="12191695" cy="12802"/>
          </a:xfrm>
          <a:prstGeom prst="rect">
            <a:avLst/>
          </a:prstGeom>
          <a:solidFill>
            <a:srgbClr val="E3E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15214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튜터 도입 대안 2가지와 하이브리드 로드맵을 개인화 · 정확도 · 구현 속도 관점에서 비교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1609344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DCE8F8"/>
          </a:solidFill>
          <a:ln w="12700">
            <a:solidFill>
              <a:srgbClr val="B9C6DC"/>
            </a:solidFill>
            <a:prstDash val="solid"/>
          </a:ln>
          <a:effectLst>
            <a:outerShdw blurRad="63500" dist="12700" dir="5400000" algn="bl" rotWithShape="0">
              <a:srgbClr val="9AA6BC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7240" y="18379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5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 1 · 진단 연계형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2231136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E5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</a:t>
            </a: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주 구축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77240" y="3072384"/>
            <a:ext cx="3063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E5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
</a:t>
            </a: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역량진단 HTML에 챗봇 위젯을 추가하고, 진단 결과(약점 역량·레벨)를 프롬프트로 주입한 학습 가이드 튜터.
</a:t>
            </a:r>
            <a:r>
              <a:rPr lang="en-US" sz="1100" b="1" dirty="0">
                <a:solidFill>
                  <a:srgbClr val="2E5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
</a:t>
            </a: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프로토타입 재사용 — 별도 파이프라인 없이 빠른 도입 · 낮은 비용
</a:t>
            </a:r>
            <a:r>
              <a:rPr lang="en-US" sz="1100" b="1" dirty="0">
                <a:solidFill>
                  <a:srgbClr val="2E5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
</a:t>
            </a:r>
            <a:r>
              <a:rPr lang="en-US" sz="11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‘내용’ 질문에는 답변 불가 — 추천·학습 방향 안내 중심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609344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DEBD8"/>
          </a:solidFill>
          <a:ln w="12700">
            <a:solidFill>
              <a:srgbClr val="B9C6DC"/>
            </a:solidFill>
            <a:prstDash val="solid"/>
          </a:ln>
          <a:effectLst>
            <a:outerShdw blurRad="63500" dist="12700" dir="5400000" algn="bl" rotWithShape="0">
              <a:srgbClr val="9AA6BC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0" y="18379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 2 · 수강 데이터형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0" y="2231136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6~8</a:t>
            </a: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주 구축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572000" y="3072384"/>
            <a:ext cx="3063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
</a:t>
            </a: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검색→담기→수강→STT/VTT→텍스트 추출→요약을 거친 지식 베이스를 프롬프트로 주입하는 강의 맥락 튜터.
</a:t>
            </a:r>
            <a:r>
              <a:rPr lang="en-US" sz="11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
</a:t>
            </a: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내용 기반 고정밀 질의응답 · 복습 퀴즈·심화 자료 자동 생성
</a:t>
            </a:r>
            <a:r>
              <a:rPr lang="en-US" sz="11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
</a:t>
            </a:r>
            <a:r>
              <a:rPr lang="en-US" sz="11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STT/VTT·요약 파이프라인 구축 필요 — 개발 기간·인프라 비용 증가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92440" y="1609344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EAE4F6"/>
          </a:solidFill>
          <a:ln w="12700">
            <a:solidFill>
              <a:srgbClr val="B9C6DC"/>
            </a:solidFill>
            <a:prstDash val="solid"/>
          </a:ln>
          <a:effectLst>
            <a:outerShdw blurRad="63500" dist="12700" dir="5400000" algn="bl" rotWithShape="0">
              <a:srgbClr val="9AA6BC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366760" y="18379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4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· 권장안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66760" y="2231136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B4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단계 로드맵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366760" y="3072384"/>
            <a:ext cx="3063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5B4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
</a:t>
            </a: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1단계로 대안 1을 즉시 배포해 가치를 검증하고, 2단계로 대안 2 파이프라인을 증설해 진단+수강 데이터를 결합.
</a:t>
            </a:r>
            <a:r>
              <a:rPr lang="en-US" sz="1100" b="1" dirty="0">
                <a:solidFill>
                  <a:srgbClr val="5B4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
</a:t>
            </a: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검증과 최종 개인화 품질을 모두 확보 — 리스크 분산
</a:t>
            </a:r>
            <a:r>
              <a:rPr lang="en-US" sz="1100" b="1" dirty="0">
                <a:solidFill>
                  <a:srgbClr val="5B4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
</a:t>
            </a:r>
            <a:r>
              <a:rPr lang="en-US" sz="11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전환 시 프롬프트·데이터 스키마 재설계 필요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5925312"/>
            <a:ext cx="11185855" cy="50292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2700">
            <a:solidFill>
              <a:srgbClr val="B9C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1520" y="5925312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권장안 : </a:t>
            </a:r>
            <a:r>
              <a:rPr lang="en-US" sz="1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 1(진단 연계)로 즉시 출발 → 대안 2(수강 데이터) 파이프라인 증설 — 하이브리드 로드맵으로 두 대안의 강점을 순차 확보합니다.</a:t>
            </a:r>
            <a:endParaRPr lang="en-US" sz="13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13F274A-1FF3-9DDE-0A96-0A4F318FB6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53355" b="-3836"/>
          <a:stretch>
            <a:fillRect/>
          </a:stretch>
        </p:blipFill>
        <p:spPr>
          <a:xfrm>
            <a:off x="10258507" y="50451"/>
            <a:ext cx="1875633" cy="4950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AI 튜터 도입 기획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503920" y="6583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</a:t>
            </a: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7 /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61872" y="40233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로드맵 (앞으로의 계획)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21208" y="914400"/>
            <a:ext cx="457200" cy="32004"/>
          </a:xfrm>
          <a:prstGeom prst="rect">
            <a:avLst/>
          </a:prstGeom>
          <a:solidFill>
            <a:srgbClr val="1B6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0" y="1033272"/>
            <a:ext cx="12191695" cy="12802"/>
          </a:xfrm>
          <a:prstGeom prst="rect">
            <a:avLst/>
          </a:prstGeom>
          <a:solidFill>
            <a:srgbClr val="E3E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15214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F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요약 : </a:t>
            </a: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효율 극대화 · 조직 AI 역량 상향  </a:t>
            </a:r>
            <a:r>
              <a:rPr lang="en-US" sz="135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 </a:t>
            </a: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진단→수강→튜터링 학습 루프 완성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609344"/>
            <a:ext cx="11185855" cy="886968"/>
          </a:xfrm>
          <a:prstGeom prst="roundRect">
            <a:avLst>
              <a:gd name="adj" fmla="val 6186"/>
            </a:avLst>
          </a:prstGeom>
          <a:solidFill>
            <a:srgbClr val="FBF3F3"/>
          </a:solidFill>
          <a:ln w="12700">
            <a:solidFill>
              <a:srgbClr val="B9C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31520" y="1805940"/>
            <a:ext cx="493776" cy="493776"/>
          </a:xfrm>
          <a:prstGeom prst="ellipse">
            <a:avLst/>
          </a:prstGeom>
          <a:solidFill>
            <a:srgbClr val="B423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8059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1700784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42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 1 프로토타입 배포 (진단 연계 튜터)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00600" y="1700784"/>
            <a:ext cx="6766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HTML(ai_native_diagnosis)에 챗봇 위젯 추가. 진단 결과(약점 역량·레벨)를 시스템 프롬프트로 주입해 학습 가이드 튜터를 즉시 제공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596896"/>
            <a:ext cx="11185855" cy="886968"/>
          </a:xfrm>
          <a:prstGeom prst="roundRect">
            <a:avLst>
              <a:gd name="adj" fmla="val 6186"/>
            </a:avLst>
          </a:prstGeom>
          <a:solidFill>
            <a:srgbClr val="E2F1EE"/>
          </a:solidFill>
          <a:ln w="12700">
            <a:solidFill>
              <a:srgbClr val="B9C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2793492"/>
            <a:ext cx="493776" cy="493776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7934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2688336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B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플랫폼 구축 (검색 → 담기 → 수강)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00600" y="2688336"/>
            <a:ext cx="6766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역량 기반 강의 큐레이션, 관심 강의 담기·학습 로드맵 보관, 몰입형 플레이어·진척도 대시보드 연동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584448"/>
            <a:ext cx="11185855" cy="886968"/>
          </a:xfrm>
          <a:prstGeom prst="roundRect">
            <a:avLst>
              <a:gd name="adj" fmla="val 6186"/>
            </a:avLst>
          </a:prstGeom>
          <a:solidFill>
            <a:srgbClr val="DCE8F8"/>
          </a:solidFill>
          <a:ln w="12700">
            <a:solidFill>
              <a:srgbClr val="B9C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31520" y="3781044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7810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3675888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5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/ VTT 파이프라인 구축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00600" y="3675888"/>
            <a:ext cx="6766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영상·음성을 실시간 텍스트로 변환. 자막(VTT)·슬라이드 OCR을 병합해 멀티모달 학습 데이터를 추출하고 핵심 맥락 보존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572000"/>
            <a:ext cx="11185855" cy="886968"/>
          </a:xfrm>
          <a:prstGeom prst="roundRect">
            <a:avLst>
              <a:gd name="adj" fmla="val 6186"/>
            </a:avLst>
          </a:prstGeom>
          <a:solidFill>
            <a:srgbClr val="FDEBD8"/>
          </a:solidFill>
          <a:ln w="12700">
            <a:solidFill>
              <a:srgbClr val="B9C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1520" y="4768596"/>
            <a:ext cx="493776" cy="493776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47685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4663440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요약 · 지식 베이스화 (대안 2 완성)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800600" y="4663440"/>
            <a:ext cx="6766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계층적 요약 생성 → 임베딩·색인. 요약 데이터를 프롬프트로 주입하는 강의 맥락 튜터로 확장 — 하이브리드 로드맵 완성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5559552"/>
            <a:ext cx="11185855" cy="886968"/>
          </a:xfrm>
          <a:prstGeom prst="roundRect">
            <a:avLst>
              <a:gd name="adj" fmla="val 6186"/>
            </a:avLst>
          </a:prstGeom>
          <a:solidFill>
            <a:srgbClr val="EAE4F6"/>
          </a:solidFill>
          <a:ln w="12700">
            <a:solidFill>
              <a:srgbClr val="B9C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31520" y="5756148"/>
            <a:ext cx="493776" cy="493776"/>
          </a:xfrm>
          <a:prstGeom prst="ellipse">
            <a:avLst/>
          </a:prstGeom>
          <a:solidFill>
            <a:srgbClr val="5B4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31520" y="57561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17320" y="5650992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4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· 생태계 연결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800600" y="5650992"/>
            <a:ext cx="6766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퀴즈·심화 자료 자동 생성, 멀티모달 LLM·실시간 피드백, 사내 지식과 외부 강의(인프런) 결합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DA4B7E3-CC54-700E-FCF3-5C8610E059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53355" b="-3836"/>
          <a:stretch>
            <a:fillRect/>
          </a:stretch>
        </p:blipFill>
        <p:spPr>
          <a:xfrm>
            <a:off x="10258507" y="50451"/>
            <a:ext cx="1875633" cy="4950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1138</Words>
  <Application>Microsoft Office PowerPoint</Application>
  <PresentationFormat>Widescreen</PresentationFormat>
  <Paragraphs>160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맑은 고딕</vt:lpstr>
      <vt:lpstr>맑은 고딕</vt:lpstr>
      <vt:lpstr>Arial</vt:lpstr>
      <vt:lpstr>Office Theme</vt:lpstr>
      <vt:lpstr>AI 튜터 포토폴리오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조현수</dc:creator>
  <cp:lastModifiedBy>조현수</cp:lastModifiedBy>
  <cp:revision>1</cp:revision>
  <dcterms:created xsi:type="dcterms:W3CDTF">2026-07-14T00:48:09Z</dcterms:created>
  <dcterms:modified xsi:type="dcterms:W3CDTF">2026-07-14T00:49:46Z</dcterms:modified>
</cp:coreProperties>
</file>