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dirty="0" err="1">
                <a:solidFill>
                  <a:srgbClr val="1F2433"/>
                </a:solidFill>
                <a:latin typeface="Calibri"/>
                <a:ea typeface="Malgun Gothic"/>
              </a:rPr>
              <a:t>대안</a:t>
            </a:r>
            <a:r>
              <a:rPr sz="3000" b="1" dirty="0">
                <a:solidFill>
                  <a:srgbClr val="1F2433"/>
                </a:solidFill>
                <a:latin typeface="Calibri"/>
                <a:ea typeface="Malgun Gothic"/>
              </a:rPr>
              <a:t> 1. </a:t>
            </a:r>
            <a:r>
              <a:rPr sz="3000" b="1" dirty="0" err="1">
                <a:solidFill>
                  <a:srgbClr val="1F2433"/>
                </a:solidFill>
                <a:latin typeface="Calibri"/>
                <a:ea typeface="Malgun Gothic"/>
              </a:rPr>
              <a:t>역량진단</a:t>
            </a:r>
            <a:r>
              <a:rPr sz="30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3000" b="1" dirty="0" err="1">
                <a:solidFill>
                  <a:srgbClr val="1F2433"/>
                </a:solidFill>
                <a:latin typeface="Calibri"/>
                <a:ea typeface="Malgun Gothic"/>
              </a:rPr>
              <a:t>페이지</a:t>
            </a:r>
            <a:endParaRPr sz="30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학습자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진단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→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역량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리포트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—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진단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페이지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메인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화면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&amp;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결과</a:t>
            </a:r>
            <a:r>
              <a:rPr sz="13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300" b="0" dirty="0" err="1">
                <a:solidFill>
                  <a:srgbClr val="5C6676"/>
                </a:solidFill>
                <a:latin typeface="Calibri"/>
                <a:ea typeface="Malgun Gothic"/>
              </a:rPr>
              <a:t>화면</a:t>
            </a:r>
            <a:endParaRPr sz="13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24028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5C7A"/>
                </a:solidFill>
                <a:latin typeface="Calibri"/>
                <a:ea typeface="Malgun Gothic"/>
              </a:rPr>
              <a:t>역량 진단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5C7A"/>
                </a:solidFill>
                <a:latin typeface="Calibri"/>
                <a:ea typeface="Malgun Gothic"/>
              </a:rPr>
              <a:t>역량 진단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5760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560320"/>
            <a:ext cx="576072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2677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진단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입력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화면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5541" y="26609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근무·교육·직급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입력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후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문항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응답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009" y="2897312"/>
            <a:ext cx="3189037" cy="341204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55080" y="2560320"/>
            <a:ext cx="54864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560320"/>
            <a:ext cx="548640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85632" y="226771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결과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화면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8744" y="27066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역량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점수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시각화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· E·V·P·O·C·F</a:t>
            </a:r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27" y="2897312"/>
            <a:ext cx="2973965" cy="341204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355080" y="6419088"/>
            <a:ext cx="5486400" cy="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AI Tutor 도입 기획 · Confidential · 상급자 보고용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01 / 07</a:t>
            </a:r>
          </a:p>
        </p:txBody>
      </p:sp>
      <p:sp>
        <p:nvSpPr>
          <p:cNvPr id="43" name="Text 0">
            <a:extLst>
              <a:ext uri="{FF2B5EF4-FFF2-40B4-BE49-F238E27FC236}">
                <a16:creationId xmlns:a16="http://schemas.microsoft.com/office/drawing/2014/main" id="{B44A4E42-715C-3F85-8EAF-32228855F2BE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0F3562AC-5A3E-1342-1F84-EB7E718C2E76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 / 7</a:t>
            </a:r>
            <a:endParaRPr lang="en-US" sz="1000" dirty="0"/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438B9AB8-F28E-121D-BD33-D20B5DB76CF9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48508055-3C30-6946-01D7-A0FA122C5B5D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FE6EB31F-833A-3C02-0E9B-F242329952CB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E43E18A-8C95-9806-23F8-E6E002ECB3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3258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433"/>
                </a:solidFill>
                <a:latin typeface="Calibri"/>
                <a:ea typeface="Malgun Gothic"/>
              </a:rPr>
              <a:t>대안 2. LMS 시스템 (사용자)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676"/>
                </a:solidFill>
                <a:latin typeface="Calibri"/>
                <a:ea typeface="Malgun Gothic"/>
              </a:rPr>
              <a:t>역량 진단 → 검색 → 추천 강좌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697480" cy="502920"/>
          </a:xfrm>
          <a:prstGeom prst="round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algun Gothic"/>
              </a:rPr>
              <a:t>역량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331720"/>
            <a:ext cx="2697480" cy="502920"/>
          </a:xfrm>
          <a:prstGeom prst="round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27832" y="2423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algun Gothic"/>
              </a:rPr>
              <a:t>검색 서비스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2331720"/>
            <a:ext cx="2697480" cy="502920"/>
          </a:xfrm>
          <a:prstGeom prst="round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9904" y="2423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algun Gothic"/>
              </a:rPr>
              <a:t>추천 강좌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331720"/>
            <a:ext cx="2697480" cy="502920"/>
          </a:xfrm>
          <a:prstGeom prst="round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51976" y="2423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algun Gothic"/>
              </a:rPr>
              <a:t>검색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71800"/>
            <a:ext cx="5760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576072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35124" y="312147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역량 진단 결과 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3724" y="34290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추천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강좌로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자동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진입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24" name="Picture 2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2" y="3660975"/>
            <a:ext cx="5121327" cy="256608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55080" y="297180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971800"/>
            <a:ext cx="548640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5495" y="311794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검색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&amp;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추천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강좌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05495" y="3365967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검색 → 추천 결과 리스트</a:t>
            </a:r>
          </a:p>
        </p:txBody>
      </p:sp>
      <p:pic>
        <p:nvPicPr>
          <p:cNvPr id="29" name="Picture 2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960" y="3660974"/>
            <a:ext cx="5235913" cy="2566089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AI Tutor 도입 기획 · Confidential · 상급자 보고용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04 / 07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823128-1FD4-84F9-68DC-53E0965C15DF}"/>
              </a:ext>
            </a:extLst>
          </p:cNvPr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70BF21E7-06C7-E7C4-9F7F-8F30B0F2924F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A71D79E1-465C-CEAA-2569-B8976D360C3F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 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7</a:t>
            </a:r>
            <a:endParaRPr lang="en-US" sz="10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3E84A68D-C8EF-C969-5FC7-336C57650392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3FCC774A-4CDA-93D9-3BE1-B90B5A947773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0736C051-F0BF-888D-9DBF-1F4C065E8F2E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8A32C9E-A283-0ED9-F880-F8B1DBC0F9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325880"/>
            <a:ext cx="10058400" cy="462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dirty="0" err="1">
                <a:solidFill>
                  <a:srgbClr val="1F2433"/>
                </a:solidFill>
                <a:latin typeface="Calibri"/>
                <a:ea typeface="Malgun Gothic"/>
              </a:rPr>
              <a:t>대안</a:t>
            </a:r>
            <a:r>
              <a:rPr sz="28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lang="en-US" sz="2800" b="1" dirty="0">
                <a:solidFill>
                  <a:srgbClr val="1F2433"/>
                </a:solidFill>
                <a:latin typeface="Calibri"/>
                <a:ea typeface="Malgun Gothic"/>
              </a:rPr>
              <a:t>2</a:t>
            </a:r>
            <a:r>
              <a:rPr sz="2800" b="1" dirty="0">
                <a:solidFill>
                  <a:srgbClr val="1F2433"/>
                </a:solidFill>
                <a:latin typeface="Calibri"/>
                <a:ea typeface="Malgun Gothic"/>
              </a:rPr>
              <a:t>. LMS </a:t>
            </a:r>
            <a:r>
              <a:rPr sz="2800" b="1" dirty="0" err="1">
                <a:solidFill>
                  <a:srgbClr val="1F2433"/>
                </a:solidFill>
                <a:latin typeface="Calibri"/>
                <a:ea typeface="Malgun Gothic"/>
              </a:rPr>
              <a:t>시스템</a:t>
            </a:r>
            <a:r>
              <a:rPr sz="28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2800" b="1" dirty="0" err="1">
                <a:solidFill>
                  <a:srgbClr val="1F2433"/>
                </a:solidFill>
                <a:latin typeface="Calibri"/>
                <a:ea typeface="Malgun Gothic"/>
              </a:rPr>
              <a:t>강의</a:t>
            </a:r>
            <a:r>
              <a:rPr sz="28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2800" b="1" dirty="0" err="1">
                <a:solidFill>
                  <a:srgbClr val="1F2433"/>
                </a:solidFill>
                <a:latin typeface="Calibri"/>
                <a:ea typeface="Malgun Gothic"/>
              </a:rPr>
              <a:t>개설</a:t>
            </a:r>
            <a:r>
              <a:rPr sz="28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2800" b="1" dirty="0" err="1">
                <a:solidFill>
                  <a:srgbClr val="1F2433"/>
                </a:solidFill>
                <a:latin typeface="Calibri"/>
                <a:ea typeface="Malgun Gothic"/>
              </a:rPr>
              <a:t>기능</a:t>
            </a:r>
            <a:r>
              <a:rPr lang="en-US" sz="2800" b="1" dirty="0">
                <a:solidFill>
                  <a:srgbClr val="1F2433"/>
                </a:solidFill>
                <a:latin typeface="Calibri"/>
                <a:ea typeface="Malgun Gothic"/>
              </a:rPr>
              <a:t>(</a:t>
            </a:r>
            <a:r>
              <a:rPr lang="ko-KR" altLang="en-US" sz="2800" b="1" dirty="0">
                <a:solidFill>
                  <a:srgbClr val="1F2433"/>
                </a:solidFill>
                <a:latin typeface="Calibri"/>
                <a:ea typeface="Malgun Gothic"/>
              </a:rPr>
              <a:t>강사</a:t>
            </a:r>
            <a:r>
              <a:rPr lang="en-US" altLang="ko-KR" sz="2800" b="1" dirty="0">
                <a:solidFill>
                  <a:srgbClr val="1F2433"/>
                </a:solidFill>
                <a:latin typeface="Calibri"/>
                <a:ea typeface="Malgun Gothic"/>
              </a:rPr>
              <a:t>, </a:t>
            </a:r>
            <a:r>
              <a:rPr lang="ko-KR" altLang="en-US" sz="2800" b="1" dirty="0">
                <a:solidFill>
                  <a:srgbClr val="1F2433"/>
                </a:solidFill>
                <a:latin typeface="Calibri"/>
                <a:ea typeface="Malgun Gothic"/>
              </a:rPr>
              <a:t>관리자</a:t>
            </a:r>
            <a:r>
              <a:rPr lang="en-US" altLang="ko-KR" sz="2800" b="1" dirty="0">
                <a:solidFill>
                  <a:srgbClr val="1F2433"/>
                </a:solidFill>
                <a:latin typeface="Calibri"/>
                <a:ea typeface="Malgun Gothic"/>
              </a:rPr>
              <a:t>)</a:t>
            </a:r>
            <a:endParaRPr sz="28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676"/>
                </a:solidFill>
                <a:latin typeface="Calibri"/>
                <a:ea typeface="Malgun Gothic"/>
              </a:rPr>
              <a:t>(관리자 · 강사) — 강의 등록의 3단계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86000"/>
            <a:ext cx="3822191" cy="640080"/>
          </a:xfrm>
          <a:prstGeom prst="round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109728" cy="640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377440"/>
            <a:ext cx="34564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2433"/>
                </a:solidFill>
                <a:latin typeface="Calibri"/>
                <a:ea typeface="Malgun Gothic"/>
              </a:rPr>
              <a:t>1. 기본 정보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33472"/>
            <a:ext cx="34564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C6676"/>
                </a:solidFill>
                <a:latin typeface="Calibri"/>
                <a:ea typeface="Malgun Gothic"/>
              </a:rPr>
              <a:t>강좌명·설명·카테고리 등 메타 입력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3" y="2286000"/>
            <a:ext cx="3822191" cy="640080"/>
          </a:xfrm>
          <a:prstGeom prst="round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52543" y="2286000"/>
            <a:ext cx="109728" cy="640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1" y="2377440"/>
            <a:ext cx="34564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2433"/>
                </a:solidFill>
                <a:latin typeface="Calibri"/>
                <a:ea typeface="Malgun Gothic"/>
              </a:rPr>
              <a:t>2. 강좌 업로드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1" y="2633472"/>
            <a:ext cx="34564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C6676"/>
                </a:solidFill>
                <a:latin typeface="Calibri"/>
                <a:ea typeface="Malgun Gothic"/>
              </a:rPr>
              <a:t>영상 파일 / 자료 업로드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6" y="2286000"/>
            <a:ext cx="3822191" cy="640080"/>
          </a:xfrm>
          <a:prstGeom prst="round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39326" y="2286000"/>
            <a:ext cx="109728" cy="640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4" y="2377440"/>
            <a:ext cx="34564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2433"/>
                </a:solidFill>
                <a:latin typeface="Calibri"/>
                <a:ea typeface="Malgun Gothic"/>
              </a:rPr>
              <a:t>3. 강좌 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4" y="2633472"/>
            <a:ext cx="34564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C6676"/>
                </a:solidFill>
                <a:latin typeface="Calibri"/>
                <a:ea typeface="Malgun Gothic"/>
              </a:rPr>
              <a:t>목록에 신규 강좌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5760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154680"/>
            <a:ext cx="576072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2885" y="33101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관리자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—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강의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개설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화면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57185" y="3611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메타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입력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&amp;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업로드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인터페이스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28" name="Picture 2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51" y="3882229"/>
            <a:ext cx="4818616" cy="238141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355080" y="315468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154680"/>
            <a:ext cx="548640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17905" y="3296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강사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—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강의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추가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결과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01524" y="360790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목록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반영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및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완료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상태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33" name="Picture 3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610" y="3846518"/>
            <a:ext cx="4859741" cy="241712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AI Tutor 도입 기획 · Confidential · 상급자 보고용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03 / 07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C5F895-3A4C-9A61-D2CD-6EEEB9148DC3}"/>
              </a:ext>
            </a:extLst>
          </p:cNvPr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4967E904-AC27-2DAE-6D6A-45E52D98AACA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891F9CCB-E8EB-EF08-C6E1-8C4D140DBB79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 / 7</a:t>
            </a:r>
            <a:endParaRPr lang="en-US" sz="10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2FEF38FF-3191-BFB9-9705-E8EE86BE013A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BF1831AC-859C-3FDA-5F28-2E6CFE6F478C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8539B1F7-9695-6720-0E77-82AD5FAFBB9A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50080FC-268C-9AD4-D8E1-8FB4866E0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32588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433"/>
                </a:solidFill>
                <a:latin typeface="Calibri"/>
                <a:ea typeface="Malgun Gothic"/>
              </a:rPr>
              <a:t>대안 1. 역량진단 페이지 + QA RAG 챗봇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676"/>
                </a:solidFill>
                <a:latin typeface="Calibri"/>
                <a:ea typeface="Malgun Gothic"/>
              </a:rPr>
              <a:t>진단 결과를 즉시 활용하는 문서·FAQ 기반 챗봇 시나리오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5C7A"/>
                </a:solidFill>
                <a:latin typeface="Calibri"/>
                <a:ea typeface="Malgun Gothic"/>
              </a:rPr>
              <a:t>역량진단 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1284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5C7A"/>
                </a:solidFill>
                <a:latin typeface="Calibri"/>
                <a:ea typeface="Malgun Gothic"/>
              </a:rPr>
              <a:t>QA RAG 챗봇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576072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542032"/>
            <a:ext cx="576072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25856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진단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결과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활용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12848" y="26974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역량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점수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→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챗봇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컨텍스트로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전달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18" name="Picture 17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5394960" cy="323843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55080" y="2542032"/>
            <a:ext cx="548640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542032"/>
            <a:ext cx="548640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2311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QA RAG 챗봇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044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문서·FAQ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기반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답변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인터페이스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23" name="Picture 2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017519"/>
            <a:ext cx="5120640" cy="323843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AI Tutor 도입 기획 · Confidential · 상급자 보고용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02 / 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AA368E-17E7-0BC2-7760-FB1DACD32C35}"/>
              </a:ext>
            </a:extLst>
          </p:cNvPr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6B036157-EA65-6EFC-DBD6-C763011EB808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44D56B5E-CB9E-F3A6-B5C3-27FDA2FB57AA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4/ 7</a:t>
            </a:r>
            <a:endParaRPr lang="en-US" sz="10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A6C7F145-B4EE-5750-71F6-3453C7ECA71F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DFA1FA19-1E66-2856-8D8B-4A80C80B688F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09297612-FA12-D23C-301B-5B90BCAF8045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FAC54A9-F08A-3FB0-C239-451363ECDF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3258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433"/>
                </a:solidFill>
                <a:latin typeface="Calibri"/>
                <a:ea typeface="Malgun Gothic"/>
              </a:rPr>
              <a:t>대안 2. LMS 시스템  —  수강 &amp; AI 튜터 챗봇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676"/>
                </a:solidFill>
                <a:latin typeface="Calibri"/>
                <a:ea typeface="Malgun Gothic"/>
              </a:rPr>
              <a:t>담은 강의 → AI 튜터 챗봇으로 심화 학습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3822191" cy="502920"/>
          </a:xfrm>
          <a:prstGeom prst="round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38221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algun Gothic"/>
              </a:rPr>
              <a:t>담은 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3" y="2331720"/>
            <a:ext cx="3822191" cy="502920"/>
          </a:xfrm>
          <a:prstGeom prst="round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3" y="2423160"/>
            <a:ext cx="38221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Malgun Gothic"/>
              </a:rPr>
              <a:t>AI 튜터 챗봇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6" y="2331720"/>
            <a:ext cx="3822191" cy="502920"/>
          </a:xfrm>
          <a:prstGeom prst="round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6" y="2423160"/>
            <a:ext cx="3822191" cy="231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 err="1">
                <a:solidFill>
                  <a:srgbClr val="FFFFFF"/>
                </a:solidFill>
                <a:latin typeface="Calibri"/>
                <a:ea typeface="Malgun Gothic"/>
              </a:rPr>
              <a:t>수강</a:t>
            </a:r>
            <a:r>
              <a:rPr sz="1400" b="1" dirty="0">
                <a:solidFill>
                  <a:srgbClr val="FFFFFF"/>
                </a:solidFill>
                <a:latin typeface="Calibri"/>
                <a:ea typeface="Malgun Gothic"/>
              </a:rPr>
              <a:t> &amp; </a:t>
            </a:r>
            <a:r>
              <a:rPr sz="1400" b="1" dirty="0" err="1">
                <a:solidFill>
                  <a:srgbClr val="FFFFFF"/>
                </a:solidFill>
                <a:latin typeface="Calibri"/>
                <a:ea typeface="Malgun Gothic"/>
              </a:rPr>
              <a:t>분석</a:t>
            </a:r>
            <a:endParaRPr sz="1400" b="1" dirty="0">
              <a:solidFill>
                <a:srgbClr val="FFFFFF"/>
              </a:solidFill>
              <a:latin typeface="Calibri"/>
              <a:ea typeface="Malgun Gothi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57607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576072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7708" y="3157145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담은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강의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화면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47708" y="35021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수강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강의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목록</a:t>
            </a:r>
            <a:r>
              <a:rPr sz="1000" b="0" dirty="0">
                <a:solidFill>
                  <a:srgbClr val="5C6676"/>
                </a:solidFill>
                <a:latin typeface="Calibri"/>
                <a:ea typeface="Malgun Gothic"/>
              </a:rPr>
              <a:t> &amp; </a:t>
            </a:r>
            <a:r>
              <a:rPr sz="1000" b="0" dirty="0" err="1">
                <a:solidFill>
                  <a:srgbClr val="5C6676"/>
                </a:solidFill>
                <a:latin typeface="Calibri"/>
                <a:ea typeface="Malgun Gothic"/>
              </a:rPr>
              <a:t>진도</a:t>
            </a:r>
            <a:endParaRPr sz="1000" b="0" dirty="0">
              <a:solidFill>
                <a:srgbClr val="5C6676"/>
              </a:solidFill>
              <a:latin typeface="Calibri"/>
              <a:ea typeface="Malgun Gothic"/>
            </a:endParaRPr>
          </a:p>
        </p:txBody>
      </p:sp>
      <p:pic>
        <p:nvPicPr>
          <p:cNvPr id="22" name="Picture 21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58" y="3770120"/>
            <a:ext cx="5000156" cy="249091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55080" y="3017520"/>
            <a:ext cx="54864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3017520"/>
            <a:ext cx="5486400" cy="109728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6" y="3157145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AI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튜터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챗봇</a:t>
            </a:r>
            <a:r>
              <a:rPr sz="1500" b="1" dirty="0">
                <a:solidFill>
                  <a:srgbClr val="1F2433"/>
                </a:solidFill>
                <a:latin typeface="Calibri"/>
                <a:ea typeface="Malgun Gothic"/>
              </a:rPr>
              <a:t> </a:t>
            </a:r>
            <a:r>
              <a:rPr sz="1500" b="1" dirty="0" err="1">
                <a:solidFill>
                  <a:srgbClr val="1F2433"/>
                </a:solidFill>
                <a:latin typeface="Calibri"/>
                <a:ea typeface="Malgun Gothic"/>
              </a:rPr>
              <a:t>화면</a:t>
            </a:r>
            <a:endParaRPr sz="1500" b="1" dirty="0">
              <a:solidFill>
                <a:srgbClr val="1F2433"/>
              </a:solidFill>
              <a:latin typeface="Calibri"/>
              <a:ea typeface="Malgun Gothi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9326" y="349840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수강 중 질의응답 인터페이스</a:t>
            </a:r>
          </a:p>
        </p:txBody>
      </p:sp>
      <p:pic>
        <p:nvPicPr>
          <p:cNvPr id="27" name="Picture 26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20" y="3776472"/>
            <a:ext cx="5013909" cy="248455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AI Tutor 도입 기획 · Confidential · 상급자 보고용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05 / 07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CD4FBB-96FC-079B-2FBC-D31B3420F6BF}"/>
              </a:ext>
            </a:extLst>
          </p:cNvPr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271B5FE9-9210-005B-0A1E-A4EFB2019A47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C7DCAB63-813C-B10A-621F-D04C2743AFE5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 / 7</a:t>
            </a:r>
            <a:endParaRPr lang="en-US" sz="10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066B6A47-6465-8556-A879-7FA4E7496707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AF4E7CBC-4A36-4133-47B4-E0F621B3B471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249E2407-27ED-78EB-6A9F-02512776BB19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593B396-687F-A8E4-91D8-E9165AE442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3258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433"/>
                </a:solidFill>
                <a:latin typeface="Calibri"/>
                <a:ea typeface="Malgun Gothic"/>
              </a:rPr>
              <a:t>AI 튜터 핵심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676"/>
                </a:solidFill>
                <a:latin typeface="Calibri"/>
                <a:ea typeface="Malgun Gothic"/>
              </a:rPr>
              <a:t>두 대안이 공유하는 AI 튜터 챗봇의 6가지 핵심 기능 (개인화 학습 파트너)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382219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91440" cy="1783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" y="2450592"/>
            <a:ext cx="411480" cy="411480"/>
          </a:xfrm>
          <a:prstGeom prst="ellipse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0545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5C7A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68880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실시간 지능형 질의응답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71800"/>
            <a:ext cx="33649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강의·학습 관련 궁금증을 즉시 해결하고, 학습자 수준에 맞춘 단계별 설명을 제공.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3" y="2347369"/>
            <a:ext cx="382219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52543" y="2286000"/>
            <a:ext cx="91440" cy="1783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81143" y="2450592"/>
            <a:ext cx="411480" cy="411480"/>
          </a:xfrm>
          <a:prstGeom prst="ellipse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81143" y="250545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5C7A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3" y="2468880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맥락 기반 프롬프트 엔진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3" y="2971800"/>
            <a:ext cx="33649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STT/VTT 요약 데이터를 프롬프트에 주입해 강의 핵심 맥락을 유지한 고정밀 답변 생성.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6" y="2286000"/>
            <a:ext cx="382219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39326" y="2286000"/>
            <a:ext cx="91440" cy="1783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67926" y="2450592"/>
            <a:ext cx="411480" cy="411480"/>
          </a:xfrm>
          <a:prstGeom prst="ellipse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67926" y="250545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5C7A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6" y="2468880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개인화 학습 가이드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6" y="2971800"/>
            <a:ext cx="33649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역량 진단 결과(E·V·P·O·C·F)를 바탕으로 취약점 보완을 위한 맞춤형 질문과 학습 경로를 유도.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33672"/>
            <a:ext cx="382219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233672"/>
            <a:ext cx="91440" cy="1783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4360" y="4398264"/>
            <a:ext cx="411480" cy="411480"/>
          </a:xfrm>
          <a:prstGeom prst="ellipse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4531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5C7A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416552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학습 독려 알리미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919472"/>
            <a:ext cx="33649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학습자의 활발한 수강을 독려하기 위해 문자, 이메일 등 다양한 채널을 통해 수강을 독려하고, 매달 이벤트를 운영.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2543" y="4233672"/>
            <a:ext cx="382219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52543" y="4233672"/>
            <a:ext cx="91440" cy="1783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581143" y="4398264"/>
            <a:ext cx="411480" cy="411480"/>
          </a:xfrm>
          <a:prstGeom prst="ellipse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81143" y="44531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5C7A"/>
                </a:solidFill>
                <a:latin typeface="Calibri"/>
                <a:ea typeface="Malgun Gothic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9783" y="4416552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학습 큐레이션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143" y="4919472"/>
            <a:ext cx="33649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학습 패턴을 분석해 최적의 학습 시간대와 다음 수강 코스를 제안.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6" y="4233672"/>
            <a:ext cx="3822191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9326" y="4233672"/>
            <a:ext cx="91440" cy="1783080"/>
          </a:xfrm>
          <a:prstGeom prst="rect">
            <a:avLst/>
          </a:prstGeom>
          <a:solidFill>
            <a:srgbClr val="1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567926" y="4398264"/>
            <a:ext cx="411480" cy="411480"/>
          </a:xfrm>
          <a:prstGeom prst="ellipse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67926" y="44531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5C7A"/>
                </a:solidFill>
                <a:latin typeface="Calibri"/>
                <a:ea typeface="Malgun Gothic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6566" y="4416552"/>
            <a:ext cx="2907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433"/>
                </a:solidFill>
                <a:latin typeface="Calibri"/>
                <a:ea typeface="Malgun Gothic"/>
              </a:rPr>
              <a:t>계층적 요약 제공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7926" y="4919472"/>
            <a:ext cx="33649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강의 전체 흐름을 파악한 계층적 요약으로 빠른 복습과 핵심 정리를 지원. 수강 직후 ‘한 장 요약’ 제공.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6035040"/>
            <a:ext cx="11460175" cy="411480"/>
          </a:xfrm>
          <a:prstGeom prst="round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6089904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구현 순서 : 대안 1은 진단 데이터 기반 기능(질의응답·학습 가이드·큐레이션)부터, 대안 2는 요약 데이터 기반 기능(맥락 답변·퀴즈·요약)까지 확장합니다.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6583680"/>
            <a:ext cx="5486400" cy="14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dirty="0">
                <a:solidFill>
                  <a:srgbClr val="5C6676"/>
                </a:solidFill>
                <a:latin typeface="Calibri"/>
                <a:ea typeface="Malgun Gothic"/>
              </a:rPr>
              <a:t>AI Tutor </a:t>
            </a:r>
            <a:r>
              <a:rPr sz="900" b="0" dirty="0" err="1">
                <a:solidFill>
                  <a:srgbClr val="5C6676"/>
                </a:solidFill>
                <a:latin typeface="Calibri"/>
                <a:ea typeface="Malgun Gothic"/>
              </a:rPr>
              <a:t>도입</a:t>
            </a:r>
            <a:r>
              <a:rPr sz="9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900" b="0" dirty="0" err="1">
                <a:solidFill>
                  <a:srgbClr val="5C6676"/>
                </a:solidFill>
                <a:latin typeface="Calibri"/>
                <a:ea typeface="Malgun Gothic"/>
              </a:rPr>
              <a:t>기획</a:t>
            </a:r>
            <a:r>
              <a:rPr sz="900" b="0" dirty="0">
                <a:solidFill>
                  <a:srgbClr val="5C6676"/>
                </a:solidFill>
                <a:latin typeface="Calibri"/>
                <a:ea typeface="Malgun Gothic"/>
              </a:rPr>
              <a:t> · Confidential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06 / 07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6EC254-305D-D5E3-3FD2-8EE569452D64}"/>
              </a:ext>
            </a:extLst>
          </p:cNvPr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56" name="Text 0">
            <a:extLst>
              <a:ext uri="{FF2B5EF4-FFF2-40B4-BE49-F238E27FC236}">
                <a16:creationId xmlns:a16="http://schemas.microsoft.com/office/drawing/2014/main" id="{5EBFF633-4174-380D-1954-9E2F7D6A0350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AB9CFDAC-3F25-93FF-7D48-ADBE02D6585C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 / 7</a:t>
            </a:r>
            <a:endParaRPr lang="en-US" sz="1000" dirty="0"/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733600C8-6C90-D942-B4EC-BCD081F810B7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36FE22CA-20EC-4A8F-BCBB-04AE1888BF81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12CD0DF1-75DF-4DEF-E230-5EEF64FA04CA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459E7AD-555F-8CE5-3907-FDE9F3D25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65760" y="1325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2433"/>
                </a:solidFill>
                <a:latin typeface="Calibri"/>
                <a:ea typeface="Malgun Gothic"/>
              </a:rPr>
              <a:t>대안 상세 비교 — 대안 1 ↔ 대안 2 ↔ 하이브리드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676"/>
                </a:solidFill>
                <a:latin typeface="Calibri"/>
                <a:ea typeface="Malgun Gothic"/>
              </a:rPr>
              <a:t>비교표 : 대안별 데이터·난이도·비용·개인화 지표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194560"/>
          <a:ext cx="1133856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T="36576" marB="36576" anchor="ctr">
                    <a:solidFill>
                      <a:srgbClr val="1E5C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대안 1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(역량 진단 + 챗봇)</a:t>
                      </a:r>
                    </a:p>
                  </a:txBody>
                  <a:tcPr marT="36576" marB="36576" anchor="ctr">
                    <a:solidFill>
                      <a:srgbClr val="1E5C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대안 2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(수강 데이터)</a:t>
                      </a:r>
                    </a:p>
                  </a:txBody>
                  <a:tcPr marT="36576" marB="36576" anchor="ctr">
                    <a:solidFill>
                      <a:srgbClr val="1E5C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하이브리드</a:t>
                      </a:r>
                    </a:p>
                  </a:txBody>
                  <a:tcPr marT="36576" marB="36576" anchor="ctr">
                    <a:solidFill>
                      <a:srgbClr val="1E5C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T="36576" marB="36576" anchor="ctr">
                    <a:solidFill>
                      <a:srgbClr val="1E5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핵심 데이터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진단 결과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STT/VTT 요약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진단+요약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개인화 재료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구현 난이도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낮음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단계적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파이프라인 유무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구축 기간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2~3주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6~8주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1→2단계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프로토타입 기준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답변 범위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학습 가이드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강의 내용까지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커버리지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개인화 수준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상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최상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진단·수강 결합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인프라 비용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낮음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중~높음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STT·벡터DB 포함</a:t>
                      </a:r>
                    </a:p>
                  </a:txBody>
                  <a:tcPr marT="36576" marB="36576" anchor="ctr"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확장성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제한적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433"/>
                          </a:solidFill>
                          <a:latin typeface="Malgun Gothic"/>
                          <a:ea typeface="Malgun Gothic"/>
                        </a:rPr>
                        <a:t>콘텐츠 증가 대응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5989320"/>
            <a:ext cx="11460175" cy="502920"/>
          </a:xfrm>
          <a:prstGeom prst="roundRect">
            <a:avLst/>
          </a:prstGeom>
          <a:solidFill>
            <a:srgbClr val="E9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04418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해석 : 대안 1은 속도·비용에 강점, 대안 2는 정확도·확장성에 강점 — 하이브리드가 두 강점을 순차 확보합니다.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F2433"/>
                </a:solidFill>
                <a:latin typeface="Calibri"/>
                <a:ea typeface="Malgun Gothic"/>
              </a:rPr>
              <a:t>권장 우선순위는  대안 1 → 대안 2  순입니다.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설명: 위 표는 두 대안과 하이브리드 로드맵을 데이터·난이도·비용·개인화 관점에서 비교한 것입니다.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700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5486400" cy="14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dirty="0">
                <a:solidFill>
                  <a:srgbClr val="5C6676"/>
                </a:solidFill>
                <a:latin typeface="Calibri"/>
                <a:ea typeface="Malgun Gothic"/>
              </a:rPr>
              <a:t>AI Tutor </a:t>
            </a:r>
            <a:r>
              <a:rPr sz="900" b="0" dirty="0" err="1">
                <a:solidFill>
                  <a:srgbClr val="5C6676"/>
                </a:solidFill>
                <a:latin typeface="Calibri"/>
                <a:ea typeface="Malgun Gothic"/>
              </a:rPr>
              <a:t>도입</a:t>
            </a:r>
            <a:r>
              <a:rPr sz="900" b="0" dirty="0">
                <a:solidFill>
                  <a:srgbClr val="5C6676"/>
                </a:solidFill>
                <a:latin typeface="Calibri"/>
                <a:ea typeface="Malgun Gothic"/>
              </a:rPr>
              <a:t> </a:t>
            </a:r>
            <a:r>
              <a:rPr sz="900" b="0" dirty="0" err="1">
                <a:solidFill>
                  <a:srgbClr val="5C6676"/>
                </a:solidFill>
                <a:latin typeface="Calibri"/>
                <a:ea typeface="Malgun Gothic"/>
              </a:rPr>
              <a:t>기획</a:t>
            </a:r>
            <a:r>
              <a:rPr sz="900" b="0" dirty="0">
                <a:solidFill>
                  <a:srgbClr val="5C6676"/>
                </a:solidFill>
                <a:latin typeface="Calibri"/>
                <a:ea typeface="Malgun Gothic"/>
              </a:rPr>
              <a:t> · Confidential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676"/>
                </a:solidFill>
                <a:latin typeface="Calibri"/>
                <a:ea typeface="Malgun Gothic"/>
              </a:rPr>
              <a:t>07 / 07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65C7BD-D338-5FF1-E888-D61906DD861F}"/>
              </a:ext>
            </a:extLst>
          </p:cNvPr>
          <p:cNvSpPr txBox="1"/>
          <p:nvPr/>
        </p:nvSpPr>
        <p:spPr>
          <a:xfrm>
            <a:off x="1097280" y="59696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6"/>
                </a:solidFill>
                <a:latin typeface="Calibri"/>
                <a:ea typeface="Malgun Gothic"/>
              </a:rPr>
              <a:t>AI Tutor 도입 기획 — 대안 비교 &amp; 핵심 기능</a:t>
            </a: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D7E27B9D-4CBE-3446-D9F4-B0F7B9E62C73}"/>
              </a:ext>
            </a:extLst>
          </p:cNvPr>
          <p:cNvSpPr/>
          <p:nvPr/>
        </p:nvSpPr>
        <p:spPr>
          <a:xfrm>
            <a:off x="502920" y="146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학습 플랫폼 · AI 튜터 도입 기획</a:t>
            </a:r>
            <a:endParaRPr lang="en-US" sz="105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5C471E5-A638-F807-4CB6-9212F0D98A26}"/>
              </a:ext>
            </a:extLst>
          </p:cNvPr>
          <p:cNvSpPr/>
          <p:nvPr/>
        </p:nvSpPr>
        <p:spPr>
          <a:xfrm>
            <a:off x="8503920" y="6583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</a:t>
            </a:r>
            <a:r>
              <a:rPr lang="en-US" sz="10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 / 7</a:t>
            </a:r>
            <a:endParaRPr lang="en-US" sz="10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1C8156F3-6A32-23B9-EEC3-CE83FD716387}"/>
              </a:ext>
            </a:extLst>
          </p:cNvPr>
          <p:cNvSpPr/>
          <p:nvPr/>
        </p:nvSpPr>
        <p:spPr>
          <a:xfrm>
            <a:off x="502920" y="40233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A43F6137-0B3B-D644-6857-A554247A3052}"/>
              </a:ext>
            </a:extLst>
          </p:cNvPr>
          <p:cNvSpPr/>
          <p:nvPr/>
        </p:nvSpPr>
        <p:spPr>
          <a:xfrm>
            <a:off x="521208" y="914400"/>
            <a:ext cx="457200" cy="32004"/>
          </a:xfrm>
          <a:prstGeom prst="rect">
            <a:avLst/>
          </a:prstGeom>
          <a:solidFill>
            <a:srgbClr val="1B64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2BACB3B7-7CC0-C576-75E1-84E23E85008D}"/>
              </a:ext>
            </a:extLst>
          </p:cNvPr>
          <p:cNvSpPr/>
          <p:nvPr/>
        </p:nvSpPr>
        <p:spPr>
          <a:xfrm>
            <a:off x="0" y="1033272"/>
            <a:ext cx="12191695" cy="12802"/>
          </a:xfrm>
          <a:prstGeom prst="rect">
            <a:avLst/>
          </a:prstGeom>
          <a:solidFill>
            <a:srgbClr val="E3E7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43CEAE8-AEAA-8D2A-1B56-3BF6FBE37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53355" b="-3836"/>
          <a:stretch>
            <a:fillRect/>
          </a:stretch>
        </p:blipFill>
        <p:spPr>
          <a:xfrm>
            <a:off x="10258507" y="50451"/>
            <a:ext cx="1875633" cy="495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847</Words>
  <Application>Microsoft Office PowerPoint</Application>
  <PresentationFormat>Widescreen</PresentationFormat>
  <Paragraphs>157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EST</dc:creator>
  <cp:keywords/>
  <dc:description>generated using python-pptx</dc:description>
  <cp:lastModifiedBy>조현수</cp:lastModifiedBy>
  <cp:revision>6</cp:revision>
  <dcterms:created xsi:type="dcterms:W3CDTF">2013-01-27T09:14:16Z</dcterms:created>
  <dcterms:modified xsi:type="dcterms:W3CDTF">2026-07-15T00:52:54Z</dcterms:modified>
  <cp:category/>
</cp:coreProperties>
</file>